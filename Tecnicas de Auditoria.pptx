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sldIdLst>
    <p:sldId id="256" r:id="rId2"/>
    <p:sldId id="257" r:id="rId3"/>
    <p:sldId id="258" r:id="rId4"/>
    <p:sldId id="259" r:id="rId5"/>
    <p:sldId id="261" r:id="rId6"/>
    <p:sldId id="260" r:id="rId7"/>
    <p:sldId id="262" r:id="rId8"/>
    <p:sldId id="266" r:id="rId9"/>
    <p:sldId id="267" r:id="rId10"/>
    <p:sldId id="268" r:id="rId11"/>
    <p:sldId id="265"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Lst>
  <p:sldSz cx="9144000" cy="6858000" type="screen4x3"/>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34DB30A-34B6-443A-BA02-1669A4010D80}" type="datetimeFigureOut">
              <a:rPr lang="es-VE" smtClean="0"/>
              <a:t>3/7/2023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234DB30A-34B6-443A-BA02-1669A4010D80}" type="datetimeFigureOut">
              <a:rPr lang="es-VE" smtClean="0"/>
              <a:t>3/7/2023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234DB30A-34B6-443A-BA02-1669A4010D80}" type="datetimeFigureOut">
              <a:rPr lang="es-VE" smtClean="0"/>
              <a:t>3/7/2023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34DB30A-34B6-443A-BA02-1669A4010D80}" type="datetimeFigureOut">
              <a:rPr lang="es-VE" smtClean="0"/>
              <a:t>3/7/2023</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234DB30A-34B6-443A-BA02-1669A4010D80}" type="datetimeFigureOut">
              <a:rPr lang="es-VE" smtClean="0"/>
              <a:t>3/7/2023</a:t>
            </a:fld>
            <a:endParaRPr lang="es-VE"/>
          </a:p>
        </p:txBody>
      </p:sp>
      <p:sp>
        <p:nvSpPr>
          <p:cNvPr id="8" name="Footer Placeholder 7"/>
          <p:cNvSpPr>
            <a:spLocks noGrp="1"/>
          </p:cNvSpPr>
          <p:nvPr>
            <p:ph type="ftr" sz="quarter" idx="11"/>
          </p:nvPr>
        </p:nvSpPr>
        <p:spPr/>
        <p:txBody>
          <a:bodyPr/>
          <a:lstStyle/>
          <a:p>
            <a:endParaRPr lang="es-VE"/>
          </a:p>
        </p:txBody>
      </p:sp>
      <p:sp>
        <p:nvSpPr>
          <p:cNvPr id="9" name="Slide Number Placeholder 8"/>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234DB30A-34B6-443A-BA02-1669A4010D80}" type="datetimeFigureOut">
              <a:rPr lang="es-VE" smtClean="0"/>
              <a:t>3/7/2023</a:t>
            </a:fld>
            <a:endParaRPr lang="es-VE"/>
          </a:p>
        </p:txBody>
      </p:sp>
      <p:sp>
        <p:nvSpPr>
          <p:cNvPr id="4" name="Footer Placeholder 3"/>
          <p:cNvSpPr>
            <a:spLocks noGrp="1"/>
          </p:cNvSpPr>
          <p:nvPr>
            <p:ph type="ftr" sz="quarter" idx="11"/>
          </p:nvPr>
        </p:nvSpPr>
        <p:spPr/>
        <p:txBody>
          <a:bodyPr/>
          <a:lstStyle/>
          <a:p>
            <a:endParaRPr lang="es-VE"/>
          </a:p>
        </p:txBody>
      </p:sp>
      <p:sp>
        <p:nvSpPr>
          <p:cNvPr id="5" name="Slide Number Placeholder 4"/>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4DB30A-34B6-443A-BA02-1669A4010D80}" type="datetimeFigureOut">
              <a:rPr lang="es-VE" smtClean="0"/>
              <a:t>3/7/2023</a:t>
            </a:fld>
            <a:endParaRPr lang="es-VE"/>
          </a:p>
        </p:txBody>
      </p:sp>
      <p:sp>
        <p:nvSpPr>
          <p:cNvPr id="3" name="Footer Placeholder 2"/>
          <p:cNvSpPr>
            <a:spLocks noGrp="1"/>
          </p:cNvSpPr>
          <p:nvPr>
            <p:ph type="ftr" sz="quarter" idx="11"/>
          </p:nvPr>
        </p:nvSpPr>
        <p:spPr/>
        <p:txBody>
          <a:bodyPr/>
          <a:lstStyle/>
          <a:p>
            <a:endParaRPr lang="es-VE"/>
          </a:p>
        </p:txBody>
      </p:sp>
      <p:sp>
        <p:nvSpPr>
          <p:cNvPr id="4" name="Slide Number Placeholder 3"/>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234DB30A-34B6-443A-BA02-1669A4010D80}" type="datetimeFigureOut">
              <a:rPr lang="es-VE" smtClean="0"/>
              <a:t>3/7/2023</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C6BD741-CED2-4D86-A67D-C49E65039B2C}" type="slidenum">
              <a:rPr lang="es-VE" smtClean="0"/>
              <a:t>‹Nº›</a:t>
            </a:fld>
            <a:endParaRPr lang="es-VE"/>
          </a:p>
        </p:txBody>
      </p:sp>
      <p:sp>
        <p:nvSpPr>
          <p:cNvPr id="9" name="Content Placeholder 8"/>
          <p:cNvSpPr>
            <a:spLocks noGrp="1"/>
          </p:cNvSpPr>
          <p:nvPr>
            <p:ph sz="quarter" idx="13"/>
          </p:nvPr>
        </p:nvSpPr>
        <p:spPr>
          <a:xfrm>
            <a:off x="304800" y="381000"/>
            <a:ext cx="7772400" cy="494284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8" name="Date Placeholder 7"/>
          <p:cNvSpPr>
            <a:spLocks noGrp="1"/>
          </p:cNvSpPr>
          <p:nvPr>
            <p:ph type="dt" sz="half" idx="10"/>
          </p:nvPr>
        </p:nvSpPr>
        <p:spPr/>
        <p:txBody>
          <a:bodyPr/>
          <a:lstStyle/>
          <a:p>
            <a:fld id="{234DB30A-34B6-443A-BA02-1669A4010D80}" type="datetimeFigureOut">
              <a:rPr lang="es-VE" smtClean="0"/>
              <a:t>3/7/2023</a:t>
            </a:fld>
            <a:endParaRPr lang="es-VE"/>
          </a:p>
        </p:txBody>
      </p:sp>
      <p:sp>
        <p:nvSpPr>
          <p:cNvPr id="9" name="Slide Number Placeholder 8"/>
          <p:cNvSpPr>
            <a:spLocks noGrp="1"/>
          </p:cNvSpPr>
          <p:nvPr>
            <p:ph type="sldNum" sz="quarter" idx="11"/>
          </p:nvPr>
        </p:nvSpPr>
        <p:spPr/>
        <p:txBody>
          <a:bodyPr/>
          <a:lstStyle/>
          <a:p>
            <a:fld id="{8C6BD741-CED2-4D86-A67D-C49E65039B2C}" type="slidenum">
              <a:rPr lang="es-VE" smtClean="0"/>
              <a:t>‹Nº›</a:t>
            </a:fld>
            <a:endParaRPr lang="es-VE"/>
          </a:p>
        </p:txBody>
      </p:sp>
      <p:sp>
        <p:nvSpPr>
          <p:cNvPr id="10" name="Footer Placeholder 9"/>
          <p:cNvSpPr>
            <a:spLocks noGrp="1"/>
          </p:cNvSpPr>
          <p:nvPr>
            <p:ph type="ftr" sz="quarter" idx="12"/>
          </p:nvPr>
        </p:nvSpPr>
        <p:spPr/>
        <p:txBody>
          <a:bodyPr/>
          <a:lstStyle/>
          <a:p>
            <a:endParaRPr lang="es-V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234DB30A-34B6-443A-BA02-1669A4010D80}" type="datetimeFigureOut">
              <a:rPr lang="es-VE" smtClean="0"/>
              <a:t>3/7/2023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234DB30A-34B6-443A-BA02-1669A4010D80}" type="datetimeFigureOut">
              <a:rPr lang="es-VE" smtClean="0"/>
              <a:t>3/7/2023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C6BD741-CED2-4D86-A67D-C49E65039B2C}" type="slidenum">
              <a:rPr lang="es-VE" smtClean="0"/>
              <a:t>‹Nº›</a:t>
            </a:fld>
            <a:endParaRPr lang="es-V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C6BD741-CED2-4D86-A67D-C49E65039B2C}" type="slidenum">
              <a:rPr lang="es-VE" smtClean="0"/>
              <a:t>‹Nº›</a:t>
            </a:fld>
            <a:endParaRPr lang="es-VE"/>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s-VE"/>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34DB30A-34B6-443A-BA02-1669A4010D80}" type="datetimeFigureOut">
              <a:rPr lang="es-VE" smtClean="0"/>
              <a:t>3/7/2023</a:t>
            </a:fld>
            <a:endParaRPr lang="es-VE"/>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sz="4400" b="1" dirty="0"/>
              <a:t>Herramientas y Técnicas para la Auditoría Informática:</a:t>
            </a:r>
            <a:br>
              <a:rPr lang="es-VE" b="1" dirty="0"/>
            </a:br>
            <a:endParaRPr lang="es-VE" dirty="0">
              <a:solidFill>
                <a:srgbClr val="0070C0"/>
              </a:solidFill>
            </a:endParaRPr>
          </a:p>
        </p:txBody>
      </p:sp>
      <p:sp>
        <p:nvSpPr>
          <p:cNvPr id="3" name="2 Subtítulo"/>
          <p:cNvSpPr>
            <a:spLocks noGrp="1"/>
          </p:cNvSpPr>
          <p:nvPr>
            <p:ph type="subTitle" idx="1"/>
          </p:nvPr>
        </p:nvSpPr>
        <p:spPr>
          <a:xfrm>
            <a:off x="4355976" y="6093296"/>
            <a:ext cx="3456384" cy="504056"/>
          </a:xfrm>
        </p:spPr>
        <p:txBody>
          <a:bodyPr/>
          <a:lstStyle/>
          <a:p>
            <a:r>
              <a:rPr lang="es-VE" dirty="0"/>
              <a:t>Ing. </a:t>
            </a:r>
            <a:r>
              <a:rPr lang="es-VE"/>
              <a:t>Henry Picado Solano</a:t>
            </a:r>
            <a:endParaRPr lang="es-VE" dirty="0"/>
          </a:p>
        </p:txBody>
      </p:sp>
    </p:spTree>
    <p:extLst>
      <p:ext uri="{BB962C8B-B14F-4D97-AF65-F5344CB8AC3E}">
        <p14:creationId xmlns:p14="http://schemas.microsoft.com/office/powerpoint/2010/main" val="4013946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z="4800" b="1" dirty="0"/>
              <a:t>Técnicas para la Auditoría Informática</a:t>
            </a:r>
            <a:endParaRPr lang="es-VE" dirty="0"/>
          </a:p>
        </p:txBody>
      </p:sp>
      <p:sp>
        <p:nvSpPr>
          <p:cNvPr id="7" name="6 Recortar rectángulo de esquina sencilla"/>
          <p:cNvSpPr/>
          <p:nvPr/>
        </p:nvSpPr>
        <p:spPr>
          <a:xfrm>
            <a:off x="755576" y="1916832"/>
            <a:ext cx="2592288" cy="648072"/>
          </a:xfrm>
          <a:prstGeom prst="snip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b="1" i="1" dirty="0"/>
              <a:t>Cuestionarios</a:t>
            </a:r>
          </a:p>
        </p:txBody>
      </p:sp>
      <p:sp>
        <p:nvSpPr>
          <p:cNvPr id="9" name="8 Recortar rectángulo de esquina sencilla"/>
          <p:cNvSpPr/>
          <p:nvPr/>
        </p:nvSpPr>
        <p:spPr>
          <a:xfrm>
            <a:off x="3347864" y="3717032"/>
            <a:ext cx="2592288" cy="648072"/>
          </a:xfrm>
          <a:prstGeom prst="snip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i="1" dirty="0"/>
              <a:t>Checklist</a:t>
            </a:r>
            <a:endParaRPr lang="es-VE" b="1" dirty="0"/>
          </a:p>
        </p:txBody>
      </p:sp>
      <p:sp>
        <p:nvSpPr>
          <p:cNvPr id="10" name="9 Recortar rectángulo de esquina sencilla"/>
          <p:cNvSpPr/>
          <p:nvPr/>
        </p:nvSpPr>
        <p:spPr>
          <a:xfrm>
            <a:off x="5364088" y="5661248"/>
            <a:ext cx="2592288" cy="648072"/>
          </a:xfrm>
          <a:prstGeom prst="snip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i="1" dirty="0"/>
              <a:t>Software de Interrogación</a:t>
            </a:r>
            <a:endParaRPr lang="es-VE" dirty="0"/>
          </a:p>
        </p:txBody>
      </p:sp>
      <p:sp>
        <p:nvSpPr>
          <p:cNvPr id="11" name="10 Recortar rectángulo de esquina sencilla"/>
          <p:cNvSpPr/>
          <p:nvPr/>
        </p:nvSpPr>
        <p:spPr>
          <a:xfrm>
            <a:off x="1835696" y="2786424"/>
            <a:ext cx="2592288" cy="648072"/>
          </a:xfrm>
          <a:prstGeom prst="snip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b="1" i="1" dirty="0"/>
              <a:t>Entrevistas</a:t>
            </a:r>
          </a:p>
        </p:txBody>
      </p:sp>
      <p:sp>
        <p:nvSpPr>
          <p:cNvPr id="12" name="11 Recortar rectángulo de esquina sencilla"/>
          <p:cNvSpPr/>
          <p:nvPr/>
        </p:nvSpPr>
        <p:spPr>
          <a:xfrm>
            <a:off x="4273893" y="4653136"/>
            <a:ext cx="2592288" cy="648072"/>
          </a:xfrm>
          <a:prstGeom prst="snip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i="1" dirty="0"/>
              <a:t>Trazas y/o Huellas</a:t>
            </a:r>
            <a:endParaRPr lang="es-VE" dirty="0"/>
          </a:p>
        </p:txBody>
      </p:sp>
    </p:spTree>
    <p:extLst>
      <p:ext uri="{BB962C8B-B14F-4D97-AF65-F5344CB8AC3E}">
        <p14:creationId xmlns:p14="http://schemas.microsoft.com/office/powerpoint/2010/main" val="545813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VE" b="1" i="1" dirty="0"/>
              <a:t>Cuestionario</a:t>
            </a:r>
          </a:p>
        </p:txBody>
      </p:sp>
      <p:sp>
        <p:nvSpPr>
          <p:cNvPr id="3" name="2 CuadroTexto"/>
          <p:cNvSpPr txBox="1"/>
          <p:nvPr/>
        </p:nvSpPr>
        <p:spPr>
          <a:xfrm>
            <a:off x="3203848" y="1412776"/>
            <a:ext cx="4824536" cy="5262979"/>
          </a:xfrm>
          <a:prstGeom prst="rect">
            <a:avLst/>
          </a:prstGeom>
          <a:noFill/>
        </p:spPr>
        <p:txBody>
          <a:bodyPr wrap="square" rtlCol="0">
            <a:spAutoFit/>
          </a:bodyPr>
          <a:lstStyle/>
          <a:p>
            <a:pPr algn="just"/>
            <a:r>
              <a:rPr lang="es-ES" sz="2400" dirty="0"/>
              <a:t>Las auditorías informáticas se materializan recabando información y documentación de todo tipo. Los informes finales de los auditores dependen de sus capacidades para analizar las situaciones de debilidad o fortaleza de los diferentes entornos. El trabajo de campo del auditor consiste en lograr toda la información necesaria para la emisión de un juicio global objetivo, siempre amparado en hechos demostrables, llamados también evidencias</a:t>
            </a:r>
            <a:r>
              <a:rPr lang="es-ES" dirty="0"/>
              <a:t>. </a:t>
            </a:r>
            <a:endParaRPr lang="es-VE" b="1" dirty="0"/>
          </a:p>
        </p:txBody>
      </p:sp>
    </p:spTree>
    <p:extLst>
      <p:ext uri="{BB962C8B-B14F-4D97-AF65-F5344CB8AC3E}">
        <p14:creationId xmlns:p14="http://schemas.microsoft.com/office/powerpoint/2010/main" val="3761372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860032" y="260648"/>
            <a:ext cx="3456384" cy="792088"/>
          </a:xfrm>
        </p:spPr>
        <p:txBody>
          <a:bodyPr/>
          <a:lstStyle/>
          <a:p>
            <a:r>
              <a:rPr lang="es-VE" b="1" i="1" dirty="0"/>
              <a:t>Entrevistas</a:t>
            </a:r>
          </a:p>
        </p:txBody>
      </p:sp>
      <p:sp>
        <p:nvSpPr>
          <p:cNvPr id="4" name="3 CuadroTexto"/>
          <p:cNvSpPr txBox="1"/>
          <p:nvPr/>
        </p:nvSpPr>
        <p:spPr>
          <a:xfrm>
            <a:off x="417062" y="1916832"/>
            <a:ext cx="7488832" cy="2805063"/>
          </a:xfrm>
          <a:prstGeom prst="rect">
            <a:avLst/>
          </a:prstGeom>
          <a:noFill/>
        </p:spPr>
        <p:txBody>
          <a:bodyPr wrap="square" rtlCol="0">
            <a:spAutoFit/>
          </a:bodyPr>
          <a:lstStyle/>
          <a:p>
            <a:pPr algn="just">
              <a:lnSpc>
                <a:spcPct val="150000"/>
              </a:lnSpc>
            </a:pPr>
            <a:r>
              <a:rPr lang="es-ES" sz="2400" i="1" dirty="0"/>
              <a:t>La entrevista es una de las actividades personales más importante del auditor; en ellas, éste recoge más información, y mejor matizada, que la proporcionada por medios propios puramente técnicos o por las respuestas escritas a cuestionarios. </a:t>
            </a:r>
            <a:endParaRPr lang="es-VE" sz="2400" b="1" i="1" dirty="0"/>
          </a:p>
        </p:txBody>
      </p:sp>
    </p:spTree>
    <p:extLst>
      <p:ext uri="{BB962C8B-B14F-4D97-AF65-F5344CB8AC3E}">
        <p14:creationId xmlns:p14="http://schemas.microsoft.com/office/powerpoint/2010/main" val="73114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860032" y="260648"/>
            <a:ext cx="3456384" cy="792088"/>
          </a:xfrm>
        </p:spPr>
        <p:txBody>
          <a:bodyPr/>
          <a:lstStyle/>
          <a:p>
            <a:r>
              <a:rPr lang="es-VE" b="1" i="1" dirty="0"/>
              <a:t>Entrevistas</a:t>
            </a:r>
          </a:p>
        </p:txBody>
      </p:sp>
      <p:sp>
        <p:nvSpPr>
          <p:cNvPr id="7" name="6 Rectángulo"/>
          <p:cNvSpPr/>
          <p:nvPr/>
        </p:nvSpPr>
        <p:spPr>
          <a:xfrm>
            <a:off x="1619672" y="1628801"/>
            <a:ext cx="6696744" cy="1015663"/>
          </a:xfrm>
          <a:prstGeom prst="rect">
            <a:avLst/>
          </a:prstGeom>
        </p:spPr>
        <p:txBody>
          <a:bodyPr wrap="square">
            <a:spAutoFit/>
          </a:bodyPr>
          <a:lstStyle/>
          <a:p>
            <a:pPr algn="just"/>
            <a:r>
              <a:rPr lang="es-ES" sz="2000" dirty="0"/>
              <a:t>La entrevista entre auditor y auditado se basa fundamentalmente en el concepto de interrogatorio; es lo que hace un auditor, interroga y se interroga a sí mismo. </a:t>
            </a:r>
            <a:endParaRPr lang="es-VE" sz="2000" b="1" dirty="0"/>
          </a:p>
        </p:txBody>
      </p:sp>
      <p:sp>
        <p:nvSpPr>
          <p:cNvPr id="5" name="4 Rectángulo"/>
          <p:cNvSpPr/>
          <p:nvPr/>
        </p:nvSpPr>
        <p:spPr>
          <a:xfrm>
            <a:off x="323528" y="3140968"/>
            <a:ext cx="5184576" cy="3477875"/>
          </a:xfrm>
          <a:prstGeom prst="rect">
            <a:avLst/>
          </a:prstGeom>
        </p:spPr>
        <p:txBody>
          <a:bodyPr wrap="square">
            <a:spAutoFit/>
          </a:bodyPr>
          <a:lstStyle/>
          <a:p>
            <a:pPr algn="just"/>
            <a:r>
              <a:rPr lang="es-ES" sz="2000" dirty="0"/>
              <a:t>El auditor informático experto entrevista al auditado siguiendo un cuidadoso sistema previamente establecido, consistente en que bajo la forma de una conversación correcta y lo menos tensa posible, el auditado conteste sencillamente y con pulcritud a una serie de preguntas variadas, también sencillas. Sin embargo, esta sencillez es solo aparente. Tras ella debe existir una preparación muy elaborada y sistematizada, y que es diferente para cada caso particular. </a:t>
            </a:r>
            <a:endParaRPr lang="es-VE" sz="2000" b="1" dirty="0"/>
          </a:p>
        </p:txBody>
      </p:sp>
    </p:spTree>
    <p:extLst>
      <p:ext uri="{BB962C8B-B14F-4D97-AF65-F5344CB8AC3E}">
        <p14:creationId xmlns:p14="http://schemas.microsoft.com/office/powerpoint/2010/main" val="635878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860032" y="260648"/>
            <a:ext cx="3456384" cy="792088"/>
          </a:xfrm>
        </p:spPr>
        <p:txBody>
          <a:bodyPr/>
          <a:lstStyle/>
          <a:p>
            <a:r>
              <a:rPr lang="es-VE" b="1" i="1" dirty="0"/>
              <a:t>Entrevistas</a:t>
            </a:r>
          </a:p>
        </p:txBody>
      </p:sp>
      <p:sp>
        <p:nvSpPr>
          <p:cNvPr id="3" name="2 CuadroTexto"/>
          <p:cNvSpPr txBox="1"/>
          <p:nvPr/>
        </p:nvSpPr>
        <p:spPr>
          <a:xfrm>
            <a:off x="611560" y="2145630"/>
            <a:ext cx="6777921" cy="707886"/>
          </a:xfrm>
          <a:prstGeom prst="rect">
            <a:avLst/>
          </a:prstGeom>
          <a:noFill/>
        </p:spPr>
        <p:txBody>
          <a:bodyPr wrap="square" rtlCol="0">
            <a:spAutoFit/>
          </a:bodyPr>
          <a:lstStyle/>
          <a:p>
            <a:pPr marL="360363" lvl="0" indent="-360363" algn="just"/>
            <a:r>
              <a:rPr lang="es-VE" sz="2000" b="1" dirty="0"/>
              <a:t>1. </a:t>
            </a:r>
            <a:r>
              <a:rPr lang="es-ES" sz="2000" dirty="0"/>
              <a:t>Mediante la petición de documentación concreta sobre alguna materia de su responsabilidad.</a:t>
            </a:r>
            <a:endParaRPr lang="es-VE" sz="2000" b="1" dirty="0"/>
          </a:p>
        </p:txBody>
      </p:sp>
      <p:sp>
        <p:nvSpPr>
          <p:cNvPr id="4" name="3 CuadroTexto"/>
          <p:cNvSpPr txBox="1"/>
          <p:nvPr/>
        </p:nvSpPr>
        <p:spPr>
          <a:xfrm>
            <a:off x="179512" y="1052735"/>
            <a:ext cx="8244408" cy="830997"/>
          </a:xfrm>
          <a:prstGeom prst="rect">
            <a:avLst/>
          </a:prstGeom>
          <a:noFill/>
        </p:spPr>
        <p:txBody>
          <a:bodyPr wrap="square" rtlCol="0">
            <a:spAutoFit/>
          </a:bodyPr>
          <a:lstStyle/>
          <a:p>
            <a:r>
              <a:rPr lang="es-ES" sz="2400" dirty="0"/>
              <a:t>El auditor comienza a continuación las relaciones personales con el auditado. Lo hace de tres formas:</a:t>
            </a:r>
            <a:endParaRPr lang="es-VE" dirty="0"/>
          </a:p>
        </p:txBody>
      </p:sp>
      <p:sp>
        <p:nvSpPr>
          <p:cNvPr id="5" name="4 Rectángulo"/>
          <p:cNvSpPr/>
          <p:nvPr/>
        </p:nvSpPr>
        <p:spPr>
          <a:xfrm>
            <a:off x="1907704" y="3212976"/>
            <a:ext cx="5886400" cy="1015663"/>
          </a:xfrm>
          <a:prstGeom prst="rect">
            <a:avLst/>
          </a:prstGeom>
        </p:spPr>
        <p:txBody>
          <a:bodyPr wrap="square">
            <a:spAutoFit/>
          </a:bodyPr>
          <a:lstStyle/>
          <a:p>
            <a:pPr lvl="0" algn="just"/>
            <a:r>
              <a:rPr lang="es-ES" sz="2000" b="1" dirty="0"/>
              <a:t>2. </a:t>
            </a:r>
            <a:r>
              <a:rPr lang="es-ES" sz="2000" dirty="0"/>
              <a:t>Mediante "entrevistas" en las que no se sigue un plan predeterminado ni un método estricto de sometimiento a un cuestionario. </a:t>
            </a:r>
            <a:endParaRPr lang="es-VE" sz="2000" b="1" dirty="0"/>
          </a:p>
        </p:txBody>
      </p:sp>
      <p:sp>
        <p:nvSpPr>
          <p:cNvPr id="6" name="5 Rectángulo"/>
          <p:cNvSpPr/>
          <p:nvPr/>
        </p:nvSpPr>
        <p:spPr>
          <a:xfrm>
            <a:off x="2823664" y="4725144"/>
            <a:ext cx="5348736" cy="1015663"/>
          </a:xfrm>
          <a:prstGeom prst="rect">
            <a:avLst/>
          </a:prstGeom>
        </p:spPr>
        <p:txBody>
          <a:bodyPr wrap="square">
            <a:spAutoFit/>
          </a:bodyPr>
          <a:lstStyle/>
          <a:p>
            <a:pPr lvl="0" algn="just"/>
            <a:r>
              <a:rPr lang="es-ES" dirty="0"/>
              <a:t>3</a:t>
            </a:r>
            <a:r>
              <a:rPr lang="es-ES" sz="2000" dirty="0"/>
              <a:t>. Por medio de entrevistas en las que el auditor sigue un método preestablecido de antemano y busca unas finalidades concretas.</a:t>
            </a:r>
            <a:endParaRPr lang="es-VE" sz="2000" b="1" dirty="0"/>
          </a:p>
        </p:txBody>
      </p:sp>
    </p:spTree>
    <p:extLst>
      <p:ext uri="{BB962C8B-B14F-4D97-AF65-F5344CB8AC3E}">
        <p14:creationId xmlns:p14="http://schemas.microsoft.com/office/powerpoint/2010/main" val="3159362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2654" y="260647"/>
            <a:ext cx="3456384" cy="792088"/>
          </a:xfrm>
        </p:spPr>
        <p:txBody>
          <a:bodyPr/>
          <a:lstStyle/>
          <a:p>
            <a:r>
              <a:rPr lang="es-ES" b="1" i="1" dirty="0"/>
              <a:t>Checklist</a:t>
            </a:r>
            <a:endParaRPr lang="es-VE" b="1" dirty="0"/>
          </a:p>
        </p:txBody>
      </p:sp>
      <p:sp>
        <p:nvSpPr>
          <p:cNvPr id="4" name="3 CuadroTexto"/>
          <p:cNvSpPr txBox="1"/>
          <p:nvPr/>
        </p:nvSpPr>
        <p:spPr>
          <a:xfrm>
            <a:off x="427762" y="1628800"/>
            <a:ext cx="7858744" cy="1446550"/>
          </a:xfrm>
          <a:prstGeom prst="rect">
            <a:avLst/>
          </a:prstGeom>
          <a:noFill/>
        </p:spPr>
        <p:txBody>
          <a:bodyPr wrap="square" rtlCol="0">
            <a:spAutoFit/>
          </a:bodyPr>
          <a:lstStyle/>
          <a:p>
            <a:pPr algn="just"/>
            <a:r>
              <a:rPr lang="es-ES" sz="2200" i="1" dirty="0"/>
              <a:t>El conjunto de  preguntas muy estudiadas que han de formularse flexiblemente.  Estas preguntas recibe el nombre de Checklist. Salvo excepciones, las Checklists deben ser contestadas oralmente, ya que superan en riqueza y generalización a cualquier otra forma. </a:t>
            </a:r>
            <a:endParaRPr lang="es-VE" sz="2200" b="1" i="1" dirty="0"/>
          </a:p>
        </p:txBody>
      </p:sp>
      <p:sp>
        <p:nvSpPr>
          <p:cNvPr id="6" name="5 Rectángulo"/>
          <p:cNvSpPr/>
          <p:nvPr/>
        </p:nvSpPr>
        <p:spPr>
          <a:xfrm>
            <a:off x="1092665" y="3645024"/>
            <a:ext cx="7056784" cy="2800767"/>
          </a:xfrm>
          <a:prstGeom prst="rect">
            <a:avLst/>
          </a:prstGeom>
        </p:spPr>
        <p:txBody>
          <a:bodyPr wrap="square">
            <a:spAutoFit/>
          </a:bodyPr>
          <a:lstStyle/>
          <a:p>
            <a:pPr algn="just"/>
            <a:r>
              <a:rPr lang="es-ES" sz="2200" dirty="0"/>
              <a:t>     El auditor deberá aplicar la Checklist de modo que el auditado responda clara y escuetamente. Se deberá interrumpir lo menos posible a éste, y solamente en los casos en que las respuestas se aparten sustancialmente de la pregunta. En algunas ocasiones, se hará necesario invitar a aquél a que exponga con mayor amplitud un tema concreto, y en cualquier caso, se deberá evitar absolutamente la presión sobre el mismo.</a:t>
            </a:r>
            <a:endParaRPr lang="es-VE" sz="2200" b="1" dirty="0"/>
          </a:p>
        </p:txBody>
      </p:sp>
      <p:sp>
        <p:nvSpPr>
          <p:cNvPr id="7" name="6 Flecha abajo"/>
          <p:cNvSpPr/>
          <p:nvPr/>
        </p:nvSpPr>
        <p:spPr>
          <a:xfrm>
            <a:off x="4211960" y="3075350"/>
            <a:ext cx="288032" cy="5696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Tree>
    <p:extLst>
      <p:ext uri="{BB962C8B-B14F-4D97-AF65-F5344CB8AC3E}">
        <p14:creationId xmlns:p14="http://schemas.microsoft.com/office/powerpoint/2010/main" val="4239195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611560" y="2145630"/>
            <a:ext cx="7182544" cy="1015663"/>
          </a:xfrm>
          <a:prstGeom prst="rect">
            <a:avLst/>
          </a:prstGeom>
          <a:noFill/>
        </p:spPr>
        <p:txBody>
          <a:bodyPr wrap="square" rtlCol="0">
            <a:spAutoFit/>
          </a:bodyPr>
          <a:lstStyle/>
          <a:p>
            <a:pPr marL="360363" lvl="0" indent="-360363" algn="just"/>
            <a:r>
              <a:rPr lang="es-VE" sz="2000" b="1" dirty="0"/>
              <a:t>1.  </a:t>
            </a:r>
            <a:r>
              <a:rPr lang="es-ES" sz="2000" dirty="0"/>
              <a:t>Contiene preguntas que el auditor debe puntuar dentro de un rango preestablecido (por ejemplo, de 1 a 5, siendo 1 la respuesta más negativa y el 5 el valor más positivo) </a:t>
            </a:r>
            <a:endParaRPr lang="es-VE" sz="2000" b="1" dirty="0"/>
          </a:p>
        </p:txBody>
      </p:sp>
      <p:sp>
        <p:nvSpPr>
          <p:cNvPr id="4" name="3 CuadroTexto"/>
          <p:cNvSpPr txBox="1"/>
          <p:nvPr/>
        </p:nvSpPr>
        <p:spPr>
          <a:xfrm>
            <a:off x="179512" y="1052735"/>
            <a:ext cx="7992888" cy="830997"/>
          </a:xfrm>
          <a:prstGeom prst="rect">
            <a:avLst/>
          </a:prstGeom>
          <a:noFill/>
        </p:spPr>
        <p:txBody>
          <a:bodyPr wrap="square" rtlCol="0">
            <a:spAutoFit/>
          </a:bodyPr>
          <a:lstStyle/>
          <a:p>
            <a:r>
              <a:rPr lang="es-ES" sz="2400" dirty="0"/>
              <a:t>Los Checklists responden fundamentalmente a dos tipos de "filosofía" de calificación o evaluación:</a:t>
            </a:r>
            <a:endParaRPr lang="es-VE" sz="2400" b="1" dirty="0"/>
          </a:p>
        </p:txBody>
      </p:sp>
      <p:sp>
        <p:nvSpPr>
          <p:cNvPr id="5" name="4 Rectángulo"/>
          <p:cNvSpPr/>
          <p:nvPr/>
        </p:nvSpPr>
        <p:spPr>
          <a:xfrm>
            <a:off x="827584" y="3356992"/>
            <a:ext cx="6966520" cy="1938992"/>
          </a:xfrm>
          <a:prstGeom prst="rect">
            <a:avLst/>
          </a:prstGeom>
        </p:spPr>
        <p:txBody>
          <a:bodyPr wrap="square">
            <a:spAutoFit/>
          </a:bodyPr>
          <a:lstStyle/>
          <a:p>
            <a:r>
              <a:rPr lang="es-ES" sz="2000" b="1" i="1" dirty="0"/>
              <a:t>Ejemplo de Checklist de rango:</a:t>
            </a:r>
            <a:endParaRPr lang="es-VE" sz="2000" b="1" dirty="0"/>
          </a:p>
          <a:p>
            <a:pPr algn="just"/>
            <a:r>
              <a:rPr lang="es-ES" sz="2000" dirty="0"/>
              <a:t>Se supone que se está realizando una auditoría sobre la seguridad física de una instalación y, dentro de ella, se analiza el control de los accesos de personas y cosas al Centro de Cálculo. Podrían formularse las preguntas que figuran a continuación, en donde las respuestas tiene los siguientes significados:</a:t>
            </a:r>
            <a:endParaRPr lang="es-VE" sz="2000" b="1" dirty="0"/>
          </a:p>
        </p:txBody>
      </p:sp>
      <p:sp>
        <p:nvSpPr>
          <p:cNvPr id="8" name="1 Título"/>
          <p:cNvSpPr txBox="1">
            <a:spLocks/>
          </p:cNvSpPr>
          <p:nvPr/>
        </p:nvSpPr>
        <p:spPr>
          <a:xfrm>
            <a:off x="192654" y="260647"/>
            <a:ext cx="3456384" cy="79208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b="1" i="1" dirty="0"/>
              <a:t>Checklist</a:t>
            </a:r>
            <a:endParaRPr lang="es-VE" b="1" dirty="0"/>
          </a:p>
        </p:txBody>
      </p:sp>
      <p:sp>
        <p:nvSpPr>
          <p:cNvPr id="10" name="9 Rectángulo"/>
          <p:cNvSpPr/>
          <p:nvPr/>
        </p:nvSpPr>
        <p:spPr>
          <a:xfrm>
            <a:off x="791580" y="5445224"/>
            <a:ext cx="6768752" cy="923330"/>
          </a:xfrm>
          <a:prstGeom prst="rect">
            <a:avLst/>
          </a:prstGeom>
        </p:spPr>
        <p:txBody>
          <a:bodyPr wrap="square">
            <a:spAutoFit/>
          </a:bodyPr>
          <a:lstStyle/>
          <a:p>
            <a:r>
              <a:rPr lang="es-ES" b="1" dirty="0">
                <a:solidFill>
                  <a:srgbClr val="FF0000"/>
                </a:solidFill>
              </a:rPr>
              <a:t>1</a:t>
            </a:r>
            <a:r>
              <a:rPr lang="es-ES" b="1" dirty="0"/>
              <a:t> </a:t>
            </a:r>
            <a:r>
              <a:rPr lang="es-ES" b="1" dirty="0">
                <a:solidFill>
                  <a:srgbClr val="FF0000"/>
                </a:solidFill>
              </a:rPr>
              <a:t>: Muy deficiente              2 : Deficiente           3 : Mejorable.</a:t>
            </a:r>
            <a:endParaRPr lang="es-VE" b="1" dirty="0">
              <a:solidFill>
                <a:srgbClr val="FF0000"/>
              </a:solidFill>
            </a:endParaRPr>
          </a:p>
          <a:p>
            <a:r>
              <a:rPr lang="es-ES" b="1" dirty="0">
                <a:solidFill>
                  <a:srgbClr val="FF0000"/>
                </a:solidFill>
              </a:rPr>
              <a:t> </a:t>
            </a:r>
            <a:endParaRPr lang="es-VE" b="1" dirty="0">
              <a:solidFill>
                <a:srgbClr val="FF0000"/>
              </a:solidFill>
            </a:endParaRPr>
          </a:p>
          <a:p>
            <a:r>
              <a:rPr lang="es-ES" b="1" dirty="0">
                <a:solidFill>
                  <a:srgbClr val="FF0000"/>
                </a:solidFill>
              </a:rPr>
              <a:t>4 : Aceptable                       5 : Correcto</a:t>
            </a:r>
            <a:endParaRPr lang="es-VE" b="1" dirty="0">
              <a:solidFill>
                <a:srgbClr val="FF0000"/>
              </a:solidFill>
            </a:endParaRPr>
          </a:p>
        </p:txBody>
      </p:sp>
    </p:spTree>
    <p:extLst>
      <p:ext uri="{BB962C8B-B14F-4D97-AF65-F5344CB8AC3E}">
        <p14:creationId xmlns:p14="http://schemas.microsoft.com/office/powerpoint/2010/main" val="3861820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395536" y="2787318"/>
            <a:ext cx="7182544" cy="1323439"/>
          </a:xfrm>
          <a:prstGeom prst="rect">
            <a:avLst/>
          </a:prstGeom>
          <a:noFill/>
        </p:spPr>
        <p:txBody>
          <a:bodyPr wrap="square" rtlCol="0">
            <a:spAutoFit/>
          </a:bodyPr>
          <a:lstStyle/>
          <a:p>
            <a:pPr algn="just"/>
            <a:r>
              <a:rPr lang="es-VE" sz="2000" b="1" dirty="0"/>
              <a:t>1. </a:t>
            </a:r>
            <a:r>
              <a:rPr lang="es-ES" sz="2000" dirty="0"/>
              <a:t>-¿Existe personal específico de vigilancia externa al edificio?</a:t>
            </a:r>
            <a:endParaRPr lang="es-VE" sz="2000" b="1" dirty="0"/>
          </a:p>
          <a:p>
            <a:pPr algn="just"/>
            <a:r>
              <a:rPr lang="es-ES" sz="2000" dirty="0"/>
              <a:t>-No, solamente un guarda por la noche que atiende además otra instalación adyacente.</a:t>
            </a:r>
            <a:endParaRPr lang="es-VE" sz="2000" b="1" dirty="0"/>
          </a:p>
          <a:p>
            <a:pPr algn="just"/>
            <a:r>
              <a:rPr lang="es-ES" sz="2000" dirty="0">
                <a:solidFill>
                  <a:srgbClr val="FF0000"/>
                </a:solidFill>
              </a:rPr>
              <a:t>&lt;Puntuación: 1&gt;</a:t>
            </a:r>
            <a:endParaRPr lang="es-VE" sz="2000" b="1" dirty="0">
              <a:solidFill>
                <a:srgbClr val="FF0000"/>
              </a:solidFill>
            </a:endParaRPr>
          </a:p>
        </p:txBody>
      </p:sp>
      <p:sp>
        <p:nvSpPr>
          <p:cNvPr id="4" name="3 CuadroTexto"/>
          <p:cNvSpPr txBox="1"/>
          <p:nvPr/>
        </p:nvSpPr>
        <p:spPr>
          <a:xfrm>
            <a:off x="267219" y="1340768"/>
            <a:ext cx="7992888" cy="1446550"/>
          </a:xfrm>
          <a:prstGeom prst="rect">
            <a:avLst/>
          </a:prstGeom>
          <a:noFill/>
        </p:spPr>
        <p:txBody>
          <a:bodyPr wrap="square" rtlCol="0">
            <a:spAutoFit/>
          </a:bodyPr>
          <a:lstStyle/>
          <a:p>
            <a:pPr algn="just"/>
            <a:r>
              <a:rPr lang="es-ES" sz="2200" dirty="0">
                <a:cs typeface="Arial" pitchFamily="34" charset="0"/>
              </a:rPr>
              <a:t>Las preguntas deben sucederse sin que parezcan encorsetadas ni clasificadas previamente. Basta con que el auditor lleve un pequeño guión. La complementación de la Checklist no debe realizarse en presencia del auditado.</a:t>
            </a:r>
            <a:endParaRPr lang="es-VE" sz="2200" dirty="0">
              <a:cs typeface="Arial" pitchFamily="34" charset="0"/>
            </a:endParaRPr>
          </a:p>
        </p:txBody>
      </p:sp>
      <p:sp>
        <p:nvSpPr>
          <p:cNvPr id="5" name="4 Rectángulo"/>
          <p:cNvSpPr/>
          <p:nvPr/>
        </p:nvSpPr>
        <p:spPr>
          <a:xfrm>
            <a:off x="1259632" y="4110757"/>
            <a:ext cx="7000475" cy="1323439"/>
          </a:xfrm>
          <a:prstGeom prst="rect">
            <a:avLst/>
          </a:prstGeom>
        </p:spPr>
        <p:txBody>
          <a:bodyPr wrap="square">
            <a:spAutoFit/>
          </a:bodyPr>
          <a:lstStyle/>
          <a:p>
            <a:pPr algn="just"/>
            <a:r>
              <a:rPr lang="es-ES" sz="2000" dirty="0"/>
              <a:t>2. Para la vigilancia interna del edificio, ¿Hay al menos un vigilante por turno en los aledaños del Centro de Cálculo? </a:t>
            </a:r>
            <a:endParaRPr lang="es-VE" sz="2000" b="1" dirty="0"/>
          </a:p>
          <a:p>
            <a:pPr algn="just"/>
            <a:r>
              <a:rPr lang="es-ES" sz="2000" dirty="0"/>
              <a:t>-Si, pero sube a las otras 4 plantas cuando se le necesita.</a:t>
            </a:r>
            <a:endParaRPr lang="es-VE" sz="2000" b="1" dirty="0"/>
          </a:p>
          <a:p>
            <a:pPr algn="just"/>
            <a:r>
              <a:rPr lang="es-ES" sz="2000" dirty="0">
                <a:solidFill>
                  <a:srgbClr val="FF0000"/>
                </a:solidFill>
              </a:rPr>
              <a:t>&lt;Puntuación: 2&gt;</a:t>
            </a:r>
            <a:endParaRPr lang="es-VE" sz="2000" b="1" dirty="0">
              <a:solidFill>
                <a:srgbClr val="FF0000"/>
              </a:solidFill>
            </a:endParaRPr>
          </a:p>
        </p:txBody>
      </p:sp>
      <p:sp>
        <p:nvSpPr>
          <p:cNvPr id="8" name="1 Título"/>
          <p:cNvSpPr txBox="1">
            <a:spLocks/>
          </p:cNvSpPr>
          <p:nvPr/>
        </p:nvSpPr>
        <p:spPr>
          <a:xfrm>
            <a:off x="192654" y="260647"/>
            <a:ext cx="3456384" cy="79208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b="1" i="1" dirty="0"/>
              <a:t>Checklist</a:t>
            </a:r>
            <a:endParaRPr lang="es-VE" b="1" dirty="0"/>
          </a:p>
        </p:txBody>
      </p:sp>
      <p:sp>
        <p:nvSpPr>
          <p:cNvPr id="2" name="1 Rectángulo"/>
          <p:cNvSpPr/>
          <p:nvPr/>
        </p:nvSpPr>
        <p:spPr>
          <a:xfrm>
            <a:off x="539552" y="5434196"/>
            <a:ext cx="7344816" cy="1200329"/>
          </a:xfrm>
          <a:prstGeom prst="rect">
            <a:avLst/>
          </a:prstGeom>
        </p:spPr>
        <p:txBody>
          <a:bodyPr wrap="square">
            <a:spAutoFit/>
          </a:bodyPr>
          <a:lstStyle/>
          <a:p>
            <a:r>
              <a:rPr lang="es-ES" dirty="0"/>
              <a:t>3. ¿Hay salida de emergencia además de la habilitada para la entrada y salida de máquinas?</a:t>
            </a:r>
            <a:endParaRPr lang="es-VE" b="1" dirty="0"/>
          </a:p>
          <a:p>
            <a:r>
              <a:rPr lang="es-ES" dirty="0"/>
              <a:t>-Si, pero existen cajas apiladas en dicha puerta. Algunas veces las quitan. </a:t>
            </a:r>
            <a:endParaRPr lang="es-VE" b="1" dirty="0"/>
          </a:p>
          <a:p>
            <a:r>
              <a:rPr lang="es-ES" dirty="0">
                <a:solidFill>
                  <a:srgbClr val="FF0000"/>
                </a:solidFill>
              </a:rPr>
              <a:t>&lt;Puntuación: 2&gt;</a:t>
            </a:r>
            <a:endParaRPr lang="es-VE" b="1" dirty="0">
              <a:solidFill>
                <a:srgbClr val="FF0000"/>
              </a:solidFill>
            </a:endParaRPr>
          </a:p>
        </p:txBody>
      </p:sp>
    </p:spTree>
    <p:extLst>
      <p:ext uri="{BB962C8B-B14F-4D97-AF65-F5344CB8AC3E}">
        <p14:creationId xmlns:p14="http://schemas.microsoft.com/office/powerpoint/2010/main" val="1958646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395536" y="2787318"/>
            <a:ext cx="7182544" cy="1938992"/>
          </a:xfrm>
          <a:prstGeom prst="rect">
            <a:avLst/>
          </a:prstGeom>
          <a:noFill/>
        </p:spPr>
        <p:txBody>
          <a:bodyPr wrap="square" rtlCol="0">
            <a:spAutoFit/>
          </a:bodyPr>
          <a:lstStyle/>
          <a:p>
            <a:pPr marL="263525" indent="-263525" algn="just"/>
            <a:r>
              <a:rPr lang="es-VE" sz="2000" b="1" dirty="0"/>
              <a:t>4- </a:t>
            </a:r>
            <a:r>
              <a:rPr lang="es-ES" sz="2000" dirty="0"/>
              <a:t>El personal de Comunicaciones, ¿Puede entrar directamente en la Sala de Computadoras?</a:t>
            </a:r>
            <a:endParaRPr lang="es-VE" sz="2000" b="1" dirty="0"/>
          </a:p>
          <a:p>
            <a:pPr algn="just"/>
            <a:r>
              <a:rPr lang="es-ES" sz="2000" dirty="0"/>
              <a:t>-No, solo tiene tarjeta el Jefe de Comunicaciones. No se la da a su gente más que por causa muy justificada, y avisando casi siempre al Jefe de Explotación. </a:t>
            </a:r>
            <a:endParaRPr lang="es-VE" sz="2000" b="1" dirty="0"/>
          </a:p>
          <a:p>
            <a:pPr algn="just"/>
            <a:r>
              <a:rPr lang="es-ES" sz="2000" dirty="0">
                <a:solidFill>
                  <a:srgbClr val="FF0000"/>
                </a:solidFill>
              </a:rPr>
              <a:t>&lt;Puntuación: 4&gt;</a:t>
            </a:r>
            <a:endParaRPr lang="es-VE" sz="2000" b="1" dirty="0">
              <a:solidFill>
                <a:srgbClr val="FF0000"/>
              </a:solidFill>
            </a:endParaRPr>
          </a:p>
        </p:txBody>
      </p:sp>
      <p:sp>
        <p:nvSpPr>
          <p:cNvPr id="4" name="3 CuadroTexto"/>
          <p:cNvSpPr txBox="1"/>
          <p:nvPr/>
        </p:nvSpPr>
        <p:spPr>
          <a:xfrm>
            <a:off x="267219" y="1340768"/>
            <a:ext cx="7992888" cy="1446550"/>
          </a:xfrm>
          <a:prstGeom prst="rect">
            <a:avLst/>
          </a:prstGeom>
          <a:noFill/>
        </p:spPr>
        <p:txBody>
          <a:bodyPr wrap="square" rtlCol="0">
            <a:spAutoFit/>
          </a:bodyPr>
          <a:lstStyle/>
          <a:p>
            <a:pPr algn="just"/>
            <a:r>
              <a:rPr lang="es-ES" sz="2200" dirty="0">
                <a:cs typeface="Arial" pitchFamily="34" charset="0"/>
              </a:rPr>
              <a:t>Las preguntas deben sucederse sin que parezcan encorsetadas ni clasificadas previamente. Basta con que el auditor lleve un pequeño guión. La complementación de la Checklist no debe realizarse en presencia del auditado.</a:t>
            </a:r>
            <a:endParaRPr lang="es-VE" sz="2200" dirty="0">
              <a:cs typeface="Arial" pitchFamily="34" charset="0"/>
            </a:endParaRPr>
          </a:p>
        </p:txBody>
      </p:sp>
      <p:sp>
        <p:nvSpPr>
          <p:cNvPr id="5" name="4 Rectángulo"/>
          <p:cNvSpPr/>
          <p:nvPr/>
        </p:nvSpPr>
        <p:spPr>
          <a:xfrm>
            <a:off x="192655" y="5193644"/>
            <a:ext cx="8067452" cy="707886"/>
          </a:xfrm>
          <a:prstGeom prst="rect">
            <a:avLst/>
          </a:prstGeom>
        </p:spPr>
        <p:txBody>
          <a:bodyPr wrap="square">
            <a:spAutoFit/>
          </a:bodyPr>
          <a:lstStyle/>
          <a:p>
            <a:r>
              <a:rPr lang="es-ES" sz="2000" b="1" i="1" dirty="0"/>
              <a:t> </a:t>
            </a:r>
            <a:r>
              <a:rPr lang="es-ES" sz="2000" b="1" i="1" dirty="0">
                <a:solidFill>
                  <a:srgbClr val="FF0000"/>
                </a:solidFill>
              </a:rPr>
              <a:t>El resultado sería el promedio de las puntuaciones: (1 + 2 + 2 + 4) /4 = 2,25 Deficiente. </a:t>
            </a:r>
            <a:endParaRPr lang="es-VE" sz="2000" b="1" i="1" dirty="0">
              <a:solidFill>
                <a:srgbClr val="FF0000"/>
              </a:solidFill>
            </a:endParaRPr>
          </a:p>
        </p:txBody>
      </p:sp>
      <p:sp>
        <p:nvSpPr>
          <p:cNvPr id="8" name="1 Título"/>
          <p:cNvSpPr txBox="1">
            <a:spLocks/>
          </p:cNvSpPr>
          <p:nvPr/>
        </p:nvSpPr>
        <p:spPr>
          <a:xfrm>
            <a:off x="192654" y="260647"/>
            <a:ext cx="3456384" cy="79208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b="1" i="1" dirty="0"/>
              <a:t>Checklist</a:t>
            </a:r>
            <a:endParaRPr lang="es-VE" b="1" dirty="0"/>
          </a:p>
        </p:txBody>
      </p:sp>
    </p:spTree>
    <p:extLst>
      <p:ext uri="{BB962C8B-B14F-4D97-AF65-F5344CB8AC3E}">
        <p14:creationId xmlns:p14="http://schemas.microsoft.com/office/powerpoint/2010/main" val="6578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179512" y="1052735"/>
            <a:ext cx="7992888" cy="830997"/>
          </a:xfrm>
          <a:prstGeom prst="rect">
            <a:avLst/>
          </a:prstGeom>
          <a:noFill/>
        </p:spPr>
        <p:txBody>
          <a:bodyPr wrap="square" rtlCol="0">
            <a:spAutoFit/>
          </a:bodyPr>
          <a:lstStyle/>
          <a:p>
            <a:r>
              <a:rPr lang="es-ES" sz="2400" dirty="0"/>
              <a:t>Los Checklists responden fundamentalmente a dos tipos de "filosofía" de calificación o evaluación:</a:t>
            </a:r>
            <a:endParaRPr lang="es-VE" sz="2400" b="1" dirty="0"/>
          </a:p>
        </p:txBody>
      </p:sp>
      <p:sp>
        <p:nvSpPr>
          <p:cNvPr id="5" name="4 Rectángulo"/>
          <p:cNvSpPr/>
          <p:nvPr/>
        </p:nvSpPr>
        <p:spPr>
          <a:xfrm>
            <a:off x="705838" y="2276872"/>
            <a:ext cx="5886400" cy="400110"/>
          </a:xfrm>
          <a:prstGeom prst="rect">
            <a:avLst/>
          </a:prstGeom>
        </p:spPr>
        <p:txBody>
          <a:bodyPr wrap="square">
            <a:spAutoFit/>
          </a:bodyPr>
          <a:lstStyle/>
          <a:p>
            <a:pPr lvl="0"/>
            <a:r>
              <a:rPr lang="es-ES" sz="2000" b="1" dirty="0"/>
              <a:t>2. </a:t>
            </a:r>
            <a:r>
              <a:rPr lang="es-ES" sz="2000" dirty="0"/>
              <a:t>Checklist de rango</a:t>
            </a:r>
            <a:endParaRPr lang="es-VE" sz="2000" b="1" dirty="0"/>
          </a:p>
        </p:txBody>
      </p:sp>
      <p:sp>
        <p:nvSpPr>
          <p:cNvPr id="6" name="5 Rectángulo"/>
          <p:cNvSpPr/>
          <p:nvPr/>
        </p:nvSpPr>
        <p:spPr>
          <a:xfrm>
            <a:off x="705838" y="2852936"/>
            <a:ext cx="4340624" cy="400110"/>
          </a:xfrm>
          <a:prstGeom prst="rect">
            <a:avLst/>
          </a:prstGeom>
        </p:spPr>
        <p:txBody>
          <a:bodyPr wrap="square">
            <a:spAutoFit/>
          </a:bodyPr>
          <a:lstStyle/>
          <a:p>
            <a:pPr lvl="0"/>
            <a:r>
              <a:rPr lang="es-ES" b="1" dirty="0"/>
              <a:t>3</a:t>
            </a:r>
            <a:r>
              <a:rPr lang="es-ES" sz="2000" dirty="0"/>
              <a:t>. Checklist Binaria</a:t>
            </a:r>
            <a:endParaRPr lang="es-VE" sz="2000" b="1" dirty="0"/>
          </a:p>
        </p:txBody>
      </p:sp>
      <p:sp>
        <p:nvSpPr>
          <p:cNvPr id="8" name="1 Título"/>
          <p:cNvSpPr txBox="1">
            <a:spLocks/>
          </p:cNvSpPr>
          <p:nvPr/>
        </p:nvSpPr>
        <p:spPr>
          <a:xfrm>
            <a:off x="192654" y="260647"/>
            <a:ext cx="3456384" cy="79208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b="1" i="1" dirty="0"/>
              <a:t>Checklist</a:t>
            </a:r>
            <a:endParaRPr lang="es-VE" b="1" dirty="0"/>
          </a:p>
        </p:txBody>
      </p:sp>
      <p:sp>
        <p:nvSpPr>
          <p:cNvPr id="2" name="1 Rectángulo"/>
          <p:cNvSpPr/>
          <p:nvPr/>
        </p:nvSpPr>
        <p:spPr>
          <a:xfrm>
            <a:off x="1363038" y="3429000"/>
            <a:ext cx="6665346" cy="646331"/>
          </a:xfrm>
          <a:prstGeom prst="rect">
            <a:avLst/>
          </a:prstGeom>
        </p:spPr>
        <p:txBody>
          <a:bodyPr wrap="square">
            <a:spAutoFit/>
          </a:bodyPr>
          <a:lstStyle/>
          <a:p>
            <a:pPr algn="just"/>
            <a:r>
              <a:rPr lang="es-ES" dirty="0"/>
              <a:t>Es la constituida por preguntas con respuesta única y excluyente: Si o No. Aritméticamente, equivalen a 1(uno) o 0(cero), respectivamente. </a:t>
            </a:r>
            <a:endParaRPr lang="es-VE" b="1" dirty="0"/>
          </a:p>
        </p:txBody>
      </p:sp>
      <p:sp>
        <p:nvSpPr>
          <p:cNvPr id="7" name="6 Rectángulo"/>
          <p:cNvSpPr/>
          <p:nvPr/>
        </p:nvSpPr>
        <p:spPr>
          <a:xfrm>
            <a:off x="1095935" y="4653136"/>
            <a:ext cx="6912768" cy="1200329"/>
          </a:xfrm>
          <a:prstGeom prst="rect">
            <a:avLst/>
          </a:prstGeom>
        </p:spPr>
        <p:txBody>
          <a:bodyPr wrap="square">
            <a:spAutoFit/>
          </a:bodyPr>
          <a:lstStyle/>
          <a:p>
            <a:r>
              <a:rPr lang="es-ES" i="1" dirty="0">
                <a:solidFill>
                  <a:srgbClr val="FF0000"/>
                </a:solidFill>
              </a:rPr>
              <a:t>Ejemplo de Checklist Binaria:</a:t>
            </a:r>
          </a:p>
          <a:p>
            <a:endParaRPr lang="es-VE" b="1" dirty="0">
              <a:solidFill>
                <a:srgbClr val="FF0000"/>
              </a:solidFill>
            </a:endParaRPr>
          </a:p>
          <a:p>
            <a:pPr algn="just"/>
            <a:r>
              <a:rPr lang="es-ES" dirty="0"/>
              <a:t>Se supone que se está realizando una Revisión de los métodos de pruebas de programas en el ámbito de Desarrollo de Proyectos.</a:t>
            </a:r>
            <a:endParaRPr lang="es-VE" b="1" dirty="0"/>
          </a:p>
        </p:txBody>
      </p:sp>
    </p:spTree>
    <p:extLst>
      <p:ext uri="{BB962C8B-B14F-4D97-AF65-F5344CB8AC3E}">
        <p14:creationId xmlns:p14="http://schemas.microsoft.com/office/powerpoint/2010/main" val="2919914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192654" y="260647"/>
            <a:ext cx="3456384" cy="79208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b="1" i="1" dirty="0"/>
              <a:t>Checklist</a:t>
            </a:r>
            <a:endParaRPr lang="es-VE" b="1" dirty="0"/>
          </a:p>
        </p:txBody>
      </p:sp>
      <p:sp>
        <p:nvSpPr>
          <p:cNvPr id="2" name="1 Rectángulo"/>
          <p:cNvSpPr/>
          <p:nvPr/>
        </p:nvSpPr>
        <p:spPr>
          <a:xfrm>
            <a:off x="683568" y="1628800"/>
            <a:ext cx="6665346" cy="923330"/>
          </a:xfrm>
          <a:prstGeom prst="rect">
            <a:avLst/>
          </a:prstGeom>
        </p:spPr>
        <p:txBody>
          <a:bodyPr wrap="square">
            <a:spAutoFit/>
          </a:bodyPr>
          <a:lstStyle/>
          <a:p>
            <a:r>
              <a:rPr lang="es-ES" dirty="0"/>
              <a:t>1. ¿Existe Normativa de que el usuario final compruebe los resultados finales de los programas?</a:t>
            </a:r>
            <a:endParaRPr lang="es-VE" b="1" dirty="0"/>
          </a:p>
          <a:p>
            <a:r>
              <a:rPr lang="es-ES" dirty="0">
                <a:solidFill>
                  <a:srgbClr val="FF0000"/>
                </a:solidFill>
              </a:rPr>
              <a:t>&lt;Puntuación: 1&gt;</a:t>
            </a:r>
            <a:endParaRPr lang="es-VE" b="1" dirty="0">
              <a:solidFill>
                <a:srgbClr val="FF0000"/>
              </a:solidFill>
            </a:endParaRPr>
          </a:p>
        </p:txBody>
      </p:sp>
      <p:sp>
        <p:nvSpPr>
          <p:cNvPr id="7" name="6 Rectángulo"/>
          <p:cNvSpPr/>
          <p:nvPr/>
        </p:nvSpPr>
        <p:spPr>
          <a:xfrm>
            <a:off x="827584" y="2636912"/>
            <a:ext cx="7076465" cy="923330"/>
          </a:xfrm>
          <a:prstGeom prst="rect">
            <a:avLst/>
          </a:prstGeom>
        </p:spPr>
        <p:txBody>
          <a:bodyPr wrap="square">
            <a:spAutoFit/>
          </a:bodyPr>
          <a:lstStyle/>
          <a:p>
            <a:r>
              <a:rPr lang="es-ES" dirty="0"/>
              <a:t>2. ¿Conoce el personal de Desarrollo la existencia de la anterior normativa?</a:t>
            </a:r>
            <a:endParaRPr lang="es-VE" b="1" dirty="0"/>
          </a:p>
          <a:p>
            <a:r>
              <a:rPr lang="es-ES" dirty="0">
                <a:solidFill>
                  <a:srgbClr val="FF0000"/>
                </a:solidFill>
              </a:rPr>
              <a:t>&lt;Puntuación: 1&gt;</a:t>
            </a:r>
            <a:endParaRPr lang="es-VE" b="1" dirty="0">
              <a:solidFill>
                <a:srgbClr val="FF0000"/>
              </a:solidFill>
            </a:endParaRPr>
          </a:p>
        </p:txBody>
      </p:sp>
      <p:sp>
        <p:nvSpPr>
          <p:cNvPr id="3" name="2 Rectángulo"/>
          <p:cNvSpPr/>
          <p:nvPr/>
        </p:nvSpPr>
        <p:spPr>
          <a:xfrm>
            <a:off x="899591" y="3861048"/>
            <a:ext cx="7004457" cy="923330"/>
          </a:xfrm>
          <a:prstGeom prst="rect">
            <a:avLst/>
          </a:prstGeom>
        </p:spPr>
        <p:txBody>
          <a:bodyPr wrap="square">
            <a:spAutoFit/>
          </a:bodyPr>
          <a:lstStyle/>
          <a:p>
            <a:r>
              <a:rPr lang="es-ES" dirty="0"/>
              <a:t>3. ¿Existe una norma por la cual las pruebas han de realizarse con juegos de ensayo o copia de Bases de Datos reales?</a:t>
            </a:r>
            <a:endParaRPr lang="es-VE" b="1" dirty="0"/>
          </a:p>
          <a:p>
            <a:r>
              <a:rPr lang="es-ES" dirty="0">
                <a:solidFill>
                  <a:srgbClr val="FF0000"/>
                </a:solidFill>
              </a:rPr>
              <a:t>&lt;Puntuación: 0&gt;</a:t>
            </a:r>
            <a:endParaRPr lang="es-VE" b="1" dirty="0">
              <a:solidFill>
                <a:srgbClr val="FF0000"/>
              </a:solidFill>
            </a:endParaRPr>
          </a:p>
        </p:txBody>
      </p:sp>
    </p:spTree>
    <p:extLst>
      <p:ext uri="{BB962C8B-B14F-4D97-AF65-F5344CB8AC3E}">
        <p14:creationId xmlns:p14="http://schemas.microsoft.com/office/powerpoint/2010/main" val="22598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192654" y="260647"/>
            <a:ext cx="3456384" cy="792088"/>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b="1" i="1" dirty="0"/>
              <a:t>Checklist</a:t>
            </a:r>
            <a:endParaRPr lang="es-VE" b="1" dirty="0"/>
          </a:p>
        </p:txBody>
      </p:sp>
      <p:sp>
        <p:nvSpPr>
          <p:cNvPr id="2" name="1 Rectángulo"/>
          <p:cNvSpPr/>
          <p:nvPr/>
        </p:nvSpPr>
        <p:spPr>
          <a:xfrm>
            <a:off x="683568" y="1628800"/>
            <a:ext cx="6665346" cy="369332"/>
          </a:xfrm>
          <a:prstGeom prst="rect">
            <a:avLst/>
          </a:prstGeom>
        </p:spPr>
        <p:txBody>
          <a:bodyPr wrap="square">
            <a:spAutoFit/>
          </a:bodyPr>
          <a:lstStyle/>
          <a:p>
            <a:r>
              <a:rPr lang="es-VE" dirty="0"/>
              <a:t>Por lo tanto, podemos decir:</a:t>
            </a:r>
            <a:endParaRPr lang="es-VE" b="1" dirty="0">
              <a:solidFill>
                <a:srgbClr val="FF0000"/>
              </a:solidFill>
            </a:endParaRPr>
          </a:p>
        </p:txBody>
      </p:sp>
      <p:sp>
        <p:nvSpPr>
          <p:cNvPr id="7" name="6 Rectángulo"/>
          <p:cNvSpPr/>
          <p:nvPr/>
        </p:nvSpPr>
        <p:spPr>
          <a:xfrm>
            <a:off x="1222471" y="2204864"/>
            <a:ext cx="6716424" cy="1477328"/>
          </a:xfrm>
          <a:prstGeom prst="rect">
            <a:avLst/>
          </a:prstGeom>
        </p:spPr>
        <p:txBody>
          <a:bodyPr wrap="square">
            <a:spAutoFit/>
          </a:bodyPr>
          <a:lstStyle/>
          <a:p>
            <a:pPr algn="just"/>
            <a:r>
              <a:rPr lang="es-ES" b="1" i="1" dirty="0"/>
              <a:t>Las Checklists de rango</a:t>
            </a:r>
            <a:r>
              <a:rPr lang="es-ES" dirty="0"/>
              <a:t> son adecuadas si el equipo auditor no es muy grande y mantiene criterios uniformes y equivalentes en las valoraciones. Permiten una mayor precisión en la evaluación que en la checklist binaria. Sin embargo, la bondad del método depende excesivamente de la formación y competencia del equipo auditor. </a:t>
            </a:r>
            <a:endParaRPr lang="es-VE" b="1" dirty="0"/>
          </a:p>
        </p:txBody>
      </p:sp>
      <p:sp>
        <p:nvSpPr>
          <p:cNvPr id="3" name="2 Rectángulo"/>
          <p:cNvSpPr/>
          <p:nvPr/>
        </p:nvSpPr>
        <p:spPr>
          <a:xfrm>
            <a:off x="683568" y="4437112"/>
            <a:ext cx="7004457" cy="1477328"/>
          </a:xfrm>
          <a:prstGeom prst="rect">
            <a:avLst/>
          </a:prstGeom>
        </p:spPr>
        <p:txBody>
          <a:bodyPr wrap="square">
            <a:spAutoFit/>
          </a:bodyPr>
          <a:lstStyle/>
          <a:p>
            <a:pPr algn="just"/>
            <a:r>
              <a:rPr lang="es-ES" b="1" i="1" dirty="0"/>
              <a:t>Las Checklists Binarias  </a:t>
            </a:r>
            <a:r>
              <a:rPr lang="es-ES" dirty="0"/>
              <a:t>siguen una elaboración inicial mucho más ardua y compleja. Deben ser de gran precisión, como corresponde a la suma precisión de la respuesta. Una vez construidas, tienen la ventaja de exigir menos uniformidad del equipo auditor y el inconveniente genérico del &lt;sí o no&gt; frente a la mayor riqueza del intervalo.</a:t>
            </a:r>
            <a:endParaRPr lang="es-VE" b="1" dirty="0"/>
          </a:p>
        </p:txBody>
      </p:sp>
    </p:spTree>
    <p:extLst>
      <p:ext uri="{BB962C8B-B14F-4D97-AF65-F5344CB8AC3E}">
        <p14:creationId xmlns:p14="http://schemas.microsoft.com/office/powerpoint/2010/main" val="3835478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323528" y="216139"/>
            <a:ext cx="5005713" cy="5760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s-ES" b="1" i="1" dirty="0"/>
              <a:t>Trazas y/o Huellas</a:t>
            </a:r>
            <a:endParaRPr lang="es-VE" dirty="0"/>
          </a:p>
        </p:txBody>
      </p:sp>
      <p:sp>
        <p:nvSpPr>
          <p:cNvPr id="7" name="6 Rectángulo"/>
          <p:cNvSpPr/>
          <p:nvPr/>
        </p:nvSpPr>
        <p:spPr>
          <a:xfrm>
            <a:off x="683568" y="1398965"/>
            <a:ext cx="7436504" cy="1477328"/>
          </a:xfrm>
          <a:prstGeom prst="rect">
            <a:avLst/>
          </a:prstGeom>
        </p:spPr>
        <p:txBody>
          <a:bodyPr wrap="square">
            <a:spAutoFit/>
          </a:bodyPr>
          <a:lstStyle/>
          <a:p>
            <a:pPr algn="just"/>
            <a:r>
              <a:rPr lang="es-ES" dirty="0"/>
              <a:t>Con frecuencia, el auditor informático debe verificar que los programas, tanto de los Sistemas como de usuario, realizan exactamente las funciones previstas, y no otras. Para ello se apoya en productos Software muy potentes y modulares que, entre otras funciones, rastrean los caminos que siguen los datos a través del programa. </a:t>
            </a:r>
            <a:endParaRPr lang="es-VE" b="1" dirty="0"/>
          </a:p>
        </p:txBody>
      </p:sp>
      <p:sp>
        <p:nvSpPr>
          <p:cNvPr id="3" name="2 Rectángulo"/>
          <p:cNvSpPr/>
          <p:nvPr/>
        </p:nvSpPr>
        <p:spPr>
          <a:xfrm>
            <a:off x="296651" y="3789040"/>
            <a:ext cx="3699285" cy="2862322"/>
          </a:xfrm>
          <a:prstGeom prst="rect">
            <a:avLst/>
          </a:prstGeom>
        </p:spPr>
        <p:txBody>
          <a:bodyPr wrap="square">
            <a:spAutoFit/>
          </a:bodyPr>
          <a:lstStyle/>
          <a:p>
            <a:pPr algn="just"/>
            <a:r>
              <a:rPr lang="es-ES" dirty="0"/>
              <a:t>Muy especialmente, estas "Trazas" se utilizan para comprobar la ejecución de las validaciones de datos previstas. Las mencionadas trazas no deben modificar en absoluto el Sistema. Si la herramienta auditora produce incrementos apreciables de carga, se convendrá de antemano las fechas y horas más adecuadas para su empleo. </a:t>
            </a:r>
            <a:endParaRPr lang="es-VE" b="1" dirty="0"/>
          </a:p>
        </p:txBody>
      </p:sp>
      <p:sp>
        <p:nvSpPr>
          <p:cNvPr id="5" name="4 Flecha curvada hacia la derecha"/>
          <p:cNvSpPr/>
          <p:nvPr/>
        </p:nvSpPr>
        <p:spPr>
          <a:xfrm>
            <a:off x="2699792" y="2895638"/>
            <a:ext cx="449472" cy="778394"/>
          </a:xfrm>
          <a:prstGeom prst="curvedRightArrow">
            <a:avLst>
              <a:gd name="adj1" fmla="val 32387"/>
              <a:gd name="adj2" fmla="val 55045"/>
              <a:gd name="adj3" fmla="val 74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solidFill>
                <a:schemeClr val="tx1"/>
              </a:solidFill>
            </a:endParaRPr>
          </a:p>
        </p:txBody>
      </p:sp>
      <p:sp>
        <p:nvSpPr>
          <p:cNvPr id="6" name="5 Flecha curvada hacia la izquierda"/>
          <p:cNvSpPr/>
          <p:nvPr/>
        </p:nvSpPr>
        <p:spPr>
          <a:xfrm>
            <a:off x="5580112" y="2902565"/>
            <a:ext cx="720080" cy="784032"/>
          </a:xfrm>
          <a:prstGeom prst="curvedLeftArrow">
            <a:avLst>
              <a:gd name="adj1" fmla="val 16032"/>
              <a:gd name="adj2" fmla="val 33639"/>
              <a:gd name="adj3" fmla="val 480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solidFill>
                <a:schemeClr val="tx1"/>
              </a:solidFill>
            </a:endParaRPr>
          </a:p>
        </p:txBody>
      </p:sp>
      <p:sp>
        <p:nvSpPr>
          <p:cNvPr id="9" name="8 Rectángulo"/>
          <p:cNvSpPr/>
          <p:nvPr/>
        </p:nvSpPr>
        <p:spPr>
          <a:xfrm>
            <a:off x="4185084" y="3868013"/>
            <a:ext cx="4059324" cy="2585323"/>
          </a:xfrm>
          <a:prstGeom prst="rect">
            <a:avLst/>
          </a:prstGeom>
        </p:spPr>
        <p:txBody>
          <a:bodyPr wrap="square">
            <a:spAutoFit/>
          </a:bodyPr>
          <a:lstStyle/>
          <a:p>
            <a:pPr algn="just"/>
            <a:r>
              <a:rPr lang="es-ES" dirty="0"/>
              <a:t>No obstante la utilidad de las Trazas, ha de repetirse lo expuesto en la descripción de la auditoría informática de Sistemas: el auditor informático emplea preferentemente la amplia información que proporciona el propio Sistema: y los &lt;Log*&gt; de dicho Sistema, en donde se recogen las modificaciones de datos y se pormenoriza la actividad general. </a:t>
            </a:r>
            <a:endParaRPr lang="es-VE" b="1" dirty="0"/>
          </a:p>
        </p:txBody>
      </p:sp>
    </p:spTree>
    <p:extLst>
      <p:ext uri="{BB962C8B-B14F-4D97-AF65-F5344CB8AC3E}">
        <p14:creationId xmlns:p14="http://schemas.microsoft.com/office/powerpoint/2010/main" val="2371181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323528" y="216139"/>
            <a:ext cx="5005713" cy="5760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s-ES" b="1" i="1" dirty="0"/>
              <a:t>Trazas y/o Huellas</a:t>
            </a:r>
            <a:endParaRPr lang="es-VE" dirty="0"/>
          </a:p>
        </p:txBody>
      </p:sp>
      <p:sp>
        <p:nvSpPr>
          <p:cNvPr id="7" name="6 Rectángulo"/>
          <p:cNvSpPr/>
          <p:nvPr/>
        </p:nvSpPr>
        <p:spPr>
          <a:xfrm>
            <a:off x="683568" y="1398965"/>
            <a:ext cx="7436504" cy="3970318"/>
          </a:xfrm>
          <a:prstGeom prst="rect">
            <a:avLst/>
          </a:prstGeom>
        </p:spPr>
        <p:txBody>
          <a:bodyPr wrap="square">
            <a:spAutoFit/>
          </a:bodyPr>
          <a:lstStyle/>
          <a:p>
            <a:r>
              <a:rPr lang="es-ES" i="1" dirty="0"/>
              <a:t>*Log:</a:t>
            </a:r>
          </a:p>
          <a:p>
            <a:endParaRPr lang="es-ES" b="1" i="1" dirty="0"/>
          </a:p>
          <a:p>
            <a:endParaRPr lang="es-VE" b="1" dirty="0"/>
          </a:p>
          <a:p>
            <a:pPr algn="just"/>
            <a:r>
              <a:rPr lang="es-ES" i="1" dirty="0"/>
              <a:t>     El log vendría a ser un historial que informa que fue cambiando y cómo fue cambiando (información). Las bases de datos, por ejemplo, utilizan el log para asegurar lo que se llaman las transacciones. Las transacciones son unidades atómicas de cambios dentro de una base de datos; toda esa serie de cambios se encuadra dentro de una transacción, y todo lo que va haciendo la Aplicación (grabar, modificar, borrar) dentro de esa transacción, queda grabado en el log. La transacción tiene un principio y un fin, cuando la transacción llega a su fin, se vuelca todo a la base de datos. Si en el medio de la transacción se cortó por x razón, lo que se hace es volver para atrás. El log te permite analizar cronológicamente que es lo que sucedió con la información que está en el Sistema o que existe dentro de la base de datos. </a:t>
            </a:r>
            <a:endParaRPr lang="es-VE" b="1" i="1" dirty="0"/>
          </a:p>
        </p:txBody>
      </p:sp>
    </p:spTree>
    <p:extLst>
      <p:ext uri="{BB962C8B-B14F-4D97-AF65-F5344CB8AC3E}">
        <p14:creationId xmlns:p14="http://schemas.microsoft.com/office/powerpoint/2010/main" val="869853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323528" y="216139"/>
            <a:ext cx="6840760" cy="5760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s-ES" b="1" i="1" dirty="0"/>
              <a:t>Software de Interrogación</a:t>
            </a:r>
            <a:endParaRPr lang="es-VE" dirty="0"/>
          </a:p>
        </p:txBody>
      </p:sp>
      <p:sp>
        <p:nvSpPr>
          <p:cNvPr id="7" name="6 Rectángulo"/>
          <p:cNvSpPr/>
          <p:nvPr/>
        </p:nvSpPr>
        <p:spPr>
          <a:xfrm>
            <a:off x="683568" y="1988840"/>
            <a:ext cx="7436504" cy="1754326"/>
          </a:xfrm>
          <a:prstGeom prst="rect">
            <a:avLst/>
          </a:prstGeom>
        </p:spPr>
        <p:txBody>
          <a:bodyPr wrap="square">
            <a:spAutoFit/>
          </a:bodyPr>
          <a:lstStyle/>
          <a:p>
            <a:endParaRPr lang="es-VE" b="1" dirty="0"/>
          </a:p>
          <a:p>
            <a:pPr algn="just"/>
            <a:r>
              <a:rPr lang="es-ES" dirty="0"/>
              <a:t>Software especiales para la auditoría informática se orientan principalmente hacia lenguajes que permiten la interrogación de ficheros y bases de datos de la empresa auditada. Estos productos son utilizados solamente por los auditores externos, por cuanto los internos disponen del software nativo propio de la instalación. </a:t>
            </a:r>
            <a:endParaRPr lang="es-VE" b="1" dirty="0"/>
          </a:p>
        </p:txBody>
      </p:sp>
    </p:spTree>
    <p:extLst>
      <p:ext uri="{BB962C8B-B14F-4D97-AF65-F5344CB8AC3E}">
        <p14:creationId xmlns:p14="http://schemas.microsoft.com/office/powerpoint/2010/main" val="98158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323528" y="216138"/>
            <a:ext cx="7992888" cy="836597"/>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s-ES" sz="4000" b="1" dirty="0"/>
              <a:t>Metodología de Trabajo de Auditoría Informática</a:t>
            </a:r>
            <a:endParaRPr lang="es-VE" sz="4000" b="1" dirty="0"/>
          </a:p>
        </p:txBody>
      </p:sp>
      <p:sp>
        <p:nvSpPr>
          <p:cNvPr id="7" name="6 Rectángulo"/>
          <p:cNvSpPr/>
          <p:nvPr/>
        </p:nvSpPr>
        <p:spPr>
          <a:xfrm>
            <a:off x="683568" y="1988840"/>
            <a:ext cx="7436504" cy="3650358"/>
          </a:xfrm>
          <a:prstGeom prst="rect">
            <a:avLst/>
          </a:prstGeom>
        </p:spPr>
        <p:txBody>
          <a:bodyPr wrap="square">
            <a:spAutoFit/>
          </a:bodyPr>
          <a:lstStyle/>
          <a:p>
            <a:endParaRPr lang="es-VE" b="1" dirty="0"/>
          </a:p>
          <a:p>
            <a:pPr marL="285750" lvl="0" indent="-285750">
              <a:lnSpc>
                <a:spcPct val="150000"/>
              </a:lnSpc>
              <a:buFont typeface="Courier New" pitchFamily="49" charset="0"/>
              <a:buChar char="o"/>
            </a:pPr>
            <a:r>
              <a:rPr lang="es-ES" i="1" dirty="0"/>
              <a:t>Alcance y Objetivos de la Auditoría Informática.</a:t>
            </a:r>
            <a:endParaRPr lang="es-VE" b="1" dirty="0"/>
          </a:p>
          <a:p>
            <a:pPr marL="285750" lvl="0" indent="-285750">
              <a:lnSpc>
                <a:spcPct val="150000"/>
              </a:lnSpc>
              <a:buFont typeface="Courier New" pitchFamily="49" charset="0"/>
              <a:buChar char="o"/>
            </a:pPr>
            <a:r>
              <a:rPr lang="es-ES" i="1" dirty="0"/>
              <a:t>Estudio inicial del entorno auditable.</a:t>
            </a:r>
            <a:endParaRPr lang="es-VE" b="1" dirty="0"/>
          </a:p>
          <a:p>
            <a:pPr marL="285750" lvl="0" indent="-285750">
              <a:lnSpc>
                <a:spcPct val="150000"/>
              </a:lnSpc>
              <a:buFont typeface="Courier New" pitchFamily="49" charset="0"/>
              <a:buChar char="o"/>
            </a:pPr>
            <a:r>
              <a:rPr lang="es-ES" i="1" dirty="0"/>
              <a:t>Determinación de los recursos necesarios para realizar la auditoría.</a:t>
            </a:r>
            <a:endParaRPr lang="es-VE" b="1" dirty="0"/>
          </a:p>
          <a:p>
            <a:pPr marL="285750" lvl="0" indent="-285750">
              <a:lnSpc>
                <a:spcPct val="150000"/>
              </a:lnSpc>
              <a:buFont typeface="Courier New" pitchFamily="49" charset="0"/>
              <a:buChar char="o"/>
            </a:pPr>
            <a:r>
              <a:rPr lang="es-ES" i="1" dirty="0"/>
              <a:t>Elaboración del plan y de los Programas de Trabajo.</a:t>
            </a:r>
            <a:endParaRPr lang="es-VE" b="1" dirty="0"/>
          </a:p>
          <a:p>
            <a:pPr marL="285750" lvl="0" indent="-285750">
              <a:lnSpc>
                <a:spcPct val="150000"/>
              </a:lnSpc>
              <a:buFont typeface="Courier New" pitchFamily="49" charset="0"/>
              <a:buChar char="o"/>
            </a:pPr>
            <a:r>
              <a:rPr lang="es-ES" i="1" dirty="0"/>
              <a:t>Actividades propiamente dichas de la auditoría.</a:t>
            </a:r>
            <a:endParaRPr lang="es-VE" b="1" dirty="0"/>
          </a:p>
          <a:p>
            <a:pPr marL="285750" lvl="0" indent="-285750">
              <a:lnSpc>
                <a:spcPct val="150000"/>
              </a:lnSpc>
              <a:buFont typeface="Courier New" pitchFamily="49" charset="0"/>
              <a:buChar char="o"/>
            </a:pPr>
            <a:r>
              <a:rPr lang="es-ES" i="1" dirty="0"/>
              <a:t>Confección y redacción del Informe Final.</a:t>
            </a:r>
            <a:endParaRPr lang="es-VE" b="1" dirty="0"/>
          </a:p>
          <a:p>
            <a:pPr marL="285750" lvl="0" indent="-285750">
              <a:lnSpc>
                <a:spcPct val="150000"/>
              </a:lnSpc>
              <a:buFont typeface="Courier New" pitchFamily="49" charset="0"/>
              <a:buChar char="o"/>
            </a:pPr>
            <a:r>
              <a:rPr lang="es-ES" i="1" dirty="0"/>
              <a:t>Redacción de la Carta de Introducción o Carta de Presentación del Informe final.</a:t>
            </a:r>
            <a:endParaRPr lang="es-VE" b="1" dirty="0"/>
          </a:p>
        </p:txBody>
      </p:sp>
      <p:sp>
        <p:nvSpPr>
          <p:cNvPr id="3" name="2 Rectángulo"/>
          <p:cNvSpPr/>
          <p:nvPr/>
        </p:nvSpPr>
        <p:spPr>
          <a:xfrm>
            <a:off x="669980" y="1527175"/>
            <a:ext cx="7299983" cy="369332"/>
          </a:xfrm>
          <a:prstGeom prst="rect">
            <a:avLst/>
          </a:prstGeom>
        </p:spPr>
        <p:txBody>
          <a:bodyPr wrap="square">
            <a:spAutoFit/>
          </a:bodyPr>
          <a:lstStyle/>
          <a:p>
            <a:r>
              <a:rPr lang="es-ES" dirty="0"/>
              <a:t>El método de trabajo del auditor pasa por las siguientes etapas:</a:t>
            </a:r>
            <a:endParaRPr lang="es-VE" b="1" dirty="0"/>
          </a:p>
        </p:txBody>
      </p:sp>
    </p:spTree>
    <p:extLst>
      <p:ext uri="{BB962C8B-B14F-4D97-AF65-F5344CB8AC3E}">
        <p14:creationId xmlns:p14="http://schemas.microsoft.com/office/powerpoint/2010/main" val="3424897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dondear rectángulo de esquina diagonal"/>
          <p:cNvSpPr/>
          <p:nvPr/>
        </p:nvSpPr>
        <p:spPr>
          <a:xfrm>
            <a:off x="269268" y="3212975"/>
            <a:ext cx="3726668" cy="2031325"/>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8" name="1 Título"/>
          <p:cNvSpPr txBox="1">
            <a:spLocks/>
          </p:cNvSpPr>
          <p:nvPr/>
        </p:nvSpPr>
        <p:spPr>
          <a:xfrm>
            <a:off x="1763688" y="673193"/>
            <a:ext cx="6758912" cy="54856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sz="3600" b="1" dirty="0"/>
              <a:t>Definición de Alcance y Objetivos</a:t>
            </a:r>
            <a:endParaRPr lang="es-VE" sz="3600" b="1" dirty="0"/>
          </a:p>
        </p:txBody>
      </p:sp>
      <p:sp>
        <p:nvSpPr>
          <p:cNvPr id="3" name="2 Rectángulo"/>
          <p:cNvSpPr/>
          <p:nvPr/>
        </p:nvSpPr>
        <p:spPr>
          <a:xfrm>
            <a:off x="669980" y="1527175"/>
            <a:ext cx="7299983" cy="923330"/>
          </a:xfrm>
          <a:prstGeom prst="rect">
            <a:avLst/>
          </a:prstGeom>
        </p:spPr>
        <p:txBody>
          <a:bodyPr wrap="square">
            <a:spAutoFit/>
          </a:bodyPr>
          <a:lstStyle/>
          <a:p>
            <a:pPr algn="just"/>
            <a:r>
              <a:rPr lang="es-ES" dirty="0"/>
              <a:t>El alcance de la auditoría expresa los límites de la misma. Debe existir un acuerdo muy preciso entre auditores y clientes sobre las funciones, las materias y las organizaciones a auditar.</a:t>
            </a:r>
            <a:endParaRPr lang="es-VE" b="1" dirty="0"/>
          </a:p>
        </p:txBody>
      </p:sp>
      <p:sp>
        <p:nvSpPr>
          <p:cNvPr id="2" name="1 Rectángulo"/>
          <p:cNvSpPr/>
          <p:nvPr/>
        </p:nvSpPr>
        <p:spPr>
          <a:xfrm>
            <a:off x="323528" y="3212976"/>
            <a:ext cx="3528392" cy="2031325"/>
          </a:xfrm>
          <a:prstGeom prst="rect">
            <a:avLst/>
          </a:prstGeom>
        </p:spPr>
        <p:txBody>
          <a:bodyPr wrap="square">
            <a:spAutoFit/>
          </a:bodyPr>
          <a:lstStyle/>
          <a:p>
            <a:pPr algn="just"/>
            <a:r>
              <a:rPr lang="es-ES" b="1" dirty="0">
                <a:solidFill>
                  <a:schemeClr val="bg1"/>
                </a:solidFill>
              </a:rPr>
              <a:t>A los efectos de acotar el trabajo, resulta muy beneficioso para ambas partes expresar las excepciones de alcance de la auditoría, es decir cuales materias, funciones u organizaciones no van a ser auditadas. </a:t>
            </a:r>
            <a:endParaRPr lang="es-VE" b="1" dirty="0">
              <a:solidFill>
                <a:schemeClr val="bg1"/>
              </a:solidFill>
            </a:endParaRPr>
          </a:p>
        </p:txBody>
      </p:sp>
      <p:sp>
        <p:nvSpPr>
          <p:cNvPr id="9" name="8 Redondear rectángulo de esquina diagonal"/>
          <p:cNvSpPr/>
          <p:nvPr/>
        </p:nvSpPr>
        <p:spPr>
          <a:xfrm>
            <a:off x="4319971" y="3127281"/>
            <a:ext cx="3649992" cy="2117019"/>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b="1" dirty="0"/>
              <a:t>Las personas que realizan la auditoría han de conocer con la mayor exactitud posible los objetivos a los que su tarea debe llegar. Deben comprender los deseos y pretensiones del cliente, de forma que las metas fijadas puedan ser cumplidas.</a:t>
            </a:r>
            <a:endParaRPr lang="es-VE" b="1" dirty="0"/>
          </a:p>
        </p:txBody>
      </p:sp>
      <p:sp>
        <p:nvSpPr>
          <p:cNvPr id="6" name="5 Flecha izquierda, derecha y arriba"/>
          <p:cNvSpPr/>
          <p:nvPr/>
        </p:nvSpPr>
        <p:spPr>
          <a:xfrm rot="10800000">
            <a:off x="3347864" y="2607516"/>
            <a:ext cx="1584176" cy="432048"/>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Tree>
    <p:extLst>
      <p:ext uri="{BB962C8B-B14F-4D97-AF65-F5344CB8AC3E}">
        <p14:creationId xmlns:p14="http://schemas.microsoft.com/office/powerpoint/2010/main" val="3279482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16 Redondear rectángulo de esquina diagonal"/>
          <p:cNvSpPr/>
          <p:nvPr/>
        </p:nvSpPr>
        <p:spPr>
          <a:xfrm>
            <a:off x="2908857" y="4333745"/>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13" name="12 Redondear rectángulo de esquina diagonal"/>
          <p:cNvSpPr/>
          <p:nvPr/>
        </p:nvSpPr>
        <p:spPr>
          <a:xfrm>
            <a:off x="5378807" y="3180707"/>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5" name="4 Redondear rectángulo de esquina diagonal"/>
          <p:cNvSpPr/>
          <p:nvPr/>
        </p:nvSpPr>
        <p:spPr>
          <a:xfrm>
            <a:off x="269268" y="3212975"/>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8" name="1 Título"/>
          <p:cNvSpPr txBox="1">
            <a:spLocks/>
          </p:cNvSpPr>
          <p:nvPr/>
        </p:nvSpPr>
        <p:spPr>
          <a:xfrm>
            <a:off x="4638358" y="673193"/>
            <a:ext cx="3384376" cy="54856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sz="3600" b="1" dirty="0"/>
              <a:t>Estudio Inicial</a:t>
            </a:r>
            <a:endParaRPr lang="es-VE" sz="3600" b="1" dirty="0"/>
          </a:p>
        </p:txBody>
      </p:sp>
      <p:sp>
        <p:nvSpPr>
          <p:cNvPr id="3" name="2 Rectángulo"/>
          <p:cNvSpPr/>
          <p:nvPr/>
        </p:nvSpPr>
        <p:spPr>
          <a:xfrm>
            <a:off x="669980" y="1527175"/>
            <a:ext cx="7299983" cy="923330"/>
          </a:xfrm>
          <a:prstGeom prst="rect">
            <a:avLst/>
          </a:prstGeom>
        </p:spPr>
        <p:txBody>
          <a:bodyPr wrap="square">
            <a:spAutoFit/>
          </a:bodyPr>
          <a:lstStyle/>
          <a:p>
            <a:r>
              <a:rPr lang="es-ES" dirty="0"/>
              <a:t>Para realizar dicho estudio ha de examinarse las funciones y actividades generales de la informática.</a:t>
            </a:r>
            <a:endParaRPr lang="es-VE" b="1" dirty="0"/>
          </a:p>
          <a:p>
            <a:r>
              <a:rPr lang="es-ES" dirty="0"/>
              <a:t>Para su realización el auditor debe conocer lo siguiente:</a:t>
            </a:r>
            <a:endParaRPr lang="es-VE" b="1" dirty="0"/>
          </a:p>
        </p:txBody>
      </p:sp>
      <p:sp>
        <p:nvSpPr>
          <p:cNvPr id="2" name="1 Rectángulo"/>
          <p:cNvSpPr/>
          <p:nvPr/>
        </p:nvSpPr>
        <p:spPr>
          <a:xfrm>
            <a:off x="366873" y="3200951"/>
            <a:ext cx="2486566" cy="369332"/>
          </a:xfrm>
          <a:prstGeom prst="rect">
            <a:avLst/>
          </a:prstGeom>
        </p:spPr>
        <p:txBody>
          <a:bodyPr wrap="square">
            <a:spAutoFit/>
          </a:bodyPr>
          <a:lstStyle/>
          <a:p>
            <a:pPr algn="ctr"/>
            <a:r>
              <a:rPr lang="es-ES" b="1" dirty="0">
                <a:solidFill>
                  <a:schemeClr val="bg1"/>
                </a:solidFill>
              </a:rPr>
              <a:t>Organización</a:t>
            </a:r>
            <a:endParaRPr lang="es-VE" b="1" dirty="0">
              <a:solidFill>
                <a:schemeClr val="bg1"/>
              </a:solidFill>
            </a:endParaRPr>
          </a:p>
        </p:txBody>
      </p:sp>
      <p:sp>
        <p:nvSpPr>
          <p:cNvPr id="6" name="5 Flecha izquierda, derecha y arriba"/>
          <p:cNvSpPr/>
          <p:nvPr/>
        </p:nvSpPr>
        <p:spPr>
          <a:xfrm rot="10800000">
            <a:off x="2699792" y="2708919"/>
            <a:ext cx="2592288" cy="432048"/>
          </a:xfrm>
          <a:prstGeom prst="leftRightUpArrow">
            <a:avLst>
              <a:gd name="adj1" fmla="val 11520"/>
              <a:gd name="adj2" fmla="val 18587"/>
              <a:gd name="adj3" fmla="val 153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12" name="11 Rectángulo"/>
          <p:cNvSpPr/>
          <p:nvPr/>
        </p:nvSpPr>
        <p:spPr>
          <a:xfrm>
            <a:off x="5466781" y="3180707"/>
            <a:ext cx="2486566" cy="369332"/>
          </a:xfrm>
          <a:prstGeom prst="rect">
            <a:avLst/>
          </a:prstGeom>
        </p:spPr>
        <p:txBody>
          <a:bodyPr wrap="square">
            <a:spAutoFit/>
          </a:bodyPr>
          <a:lstStyle/>
          <a:p>
            <a:pPr algn="ctr"/>
            <a:r>
              <a:rPr lang="es-ES" b="1" dirty="0">
                <a:solidFill>
                  <a:schemeClr val="bg1"/>
                </a:solidFill>
              </a:rPr>
              <a:t>Entorno Operacional</a:t>
            </a:r>
            <a:endParaRPr lang="es-VE" b="1" dirty="0">
              <a:solidFill>
                <a:schemeClr val="bg1"/>
              </a:solidFill>
            </a:endParaRPr>
          </a:p>
        </p:txBody>
      </p:sp>
      <p:sp>
        <p:nvSpPr>
          <p:cNvPr id="16" name="15 Rectángulo"/>
          <p:cNvSpPr/>
          <p:nvPr/>
        </p:nvSpPr>
        <p:spPr>
          <a:xfrm>
            <a:off x="2917107" y="4333745"/>
            <a:ext cx="2486566" cy="369332"/>
          </a:xfrm>
          <a:prstGeom prst="rect">
            <a:avLst/>
          </a:prstGeom>
        </p:spPr>
        <p:txBody>
          <a:bodyPr wrap="square">
            <a:spAutoFit/>
          </a:bodyPr>
          <a:lstStyle/>
          <a:p>
            <a:pPr algn="ctr"/>
            <a:r>
              <a:rPr lang="es-ES" b="1" dirty="0">
                <a:solidFill>
                  <a:schemeClr val="bg1"/>
                </a:solidFill>
              </a:rPr>
              <a:t>Recursos Humanos</a:t>
            </a:r>
            <a:endParaRPr lang="es-VE" b="1" dirty="0">
              <a:solidFill>
                <a:schemeClr val="bg1"/>
              </a:solidFill>
            </a:endParaRPr>
          </a:p>
        </p:txBody>
      </p:sp>
    </p:spTree>
    <p:extLst>
      <p:ext uri="{BB962C8B-B14F-4D97-AF65-F5344CB8AC3E}">
        <p14:creationId xmlns:p14="http://schemas.microsoft.com/office/powerpoint/2010/main" val="330066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dondear rectángulo de esquina diagonal"/>
          <p:cNvSpPr/>
          <p:nvPr/>
        </p:nvSpPr>
        <p:spPr>
          <a:xfrm>
            <a:off x="539552" y="1300118"/>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8" name="1 Título"/>
          <p:cNvSpPr txBox="1">
            <a:spLocks/>
          </p:cNvSpPr>
          <p:nvPr/>
        </p:nvSpPr>
        <p:spPr>
          <a:xfrm>
            <a:off x="4638358" y="443032"/>
            <a:ext cx="3384376" cy="54856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sz="3600" b="1" dirty="0"/>
              <a:t>Estudio Inicial</a:t>
            </a:r>
            <a:endParaRPr lang="es-VE" sz="3600" b="1" dirty="0"/>
          </a:p>
        </p:txBody>
      </p:sp>
      <p:sp>
        <p:nvSpPr>
          <p:cNvPr id="3" name="2 Rectángulo"/>
          <p:cNvSpPr/>
          <p:nvPr/>
        </p:nvSpPr>
        <p:spPr>
          <a:xfrm>
            <a:off x="988364" y="1896228"/>
            <a:ext cx="7299983" cy="923330"/>
          </a:xfrm>
          <a:prstGeom prst="rect">
            <a:avLst/>
          </a:prstGeom>
        </p:spPr>
        <p:txBody>
          <a:bodyPr wrap="square">
            <a:spAutoFit/>
          </a:bodyPr>
          <a:lstStyle/>
          <a:p>
            <a:pPr algn="just"/>
            <a:r>
              <a:rPr lang="es-ES" dirty="0"/>
              <a:t>Para el equipo auditor, el conocimiento de quién ordena, quién diseña y quién ejecuta es fundamental. Para realizar esto en auditor deberá fijarse en: </a:t>
            </a:r>
            <a:endParaRPr lang="es-VE" b="1" dirty="0"/>
          </a:p>
        </p:txBody>
      </p:sp>
      <p:sp>
        <p:nvSpPr>
          <p:cNvPr id="2" name="1 Rectángulo"/>
          <p:cNvSpPr/>
          <p:nvPr/>
        </p:nvSpPr>
        <p:spPr>
          <a:xfrm>
            <a:off x="571244" y="1300118"/>
            <a:ext cx="2486566" cy="369332"/>
          </a:xfrm>
          <a:prstGeom prst="rect">
            <a:avLst/>
          </a:prstGeom>
        </p:spPr>
        <p:txBody>
          <a:bodyPr wrap="square">
            <a:spAutoFit/>
          </a:bodyPr>
          <a:lstStyle/>
          <a:p>
            <a:pPr algn="ctr"/>
            <a:r>
              <a:rPr lang="es-ES" b="1" dirty="0">
                <a:solidFill>
                  <a:schemeClr val="bg1"/>
                </a:solidFill>
              </a:rPr>
              <a:t>Organización</a:t>
            </a:r>
            <a:endParaRPr lang="es-VE" b="1" dirty="0">
              <a:solidFill>
                <a:schemeClr val="bg1"/>
              </a:solidFill>
            </a:endParaRPr>
          </a:p>
        </p:txBody>
      </p:sp>
      <p:sp>
        <p:nvSpPr>
          <p:cNvPr id="4" name="3 Rectángulo"/>
          <p:cNvSpPr/>
          <p:nvPr/>
        </p:nvSpPr>
        <p:spPr>
          <a:xfrm>
            <a:off x="755576" y="2852936"/>
            <a:ext cx="7344816" cy="3416320"/>
          </a:xfrm>
          <a:prstGeom prst="rect">
            <a:avLst/>
          </a:prstGeom>
        </p:spPr>
        <p:txBody>
          <a:bodyPr wrap="square">
            <a:spAutoFit/>
          </a:bodyPr>
          <a:lstStyle/>
          <a:p>
            <a:pPr algn="just"/>
            <a:r>
              <a:rPr lang="es-ES" b="1" i="1" dirty="0"/>
              <a:t>1) Organigrama:</a:t>
            </a:r>
            <a:endParaRPr lang="es-VE" b="1" dirty="0"/>
          </a:p>
          <a:p>
            <a:pPr algn="just"/>
            <a:r>
              <a:rPr lang="es-ES" dirty="0"/>
              <a:t>El organigrama expresa la estructura oficial de la organización a auditar.</a:t>
            </a:r>
            <a:endParaRPr lang="es-VE" b="1" dirty="0"/>
          </a:p>
          <a:p>
            <a:pPr algn="just"/>
            <a:r>
              <a:rPr lang="es-ES" dirty="0"/>
              <a:t>Si se descubriera que existe un organigrama fáctico diferente al oficial, se pondrá de manifiesto tal circunstancia. </a:t>
            </a:r>
            <a:endParaRPr lang="es-VE" b="1" dirty="0"/>
          </a:p>
          <a:p>
            <a:pPr algn="just"/>
            <a:r>
              <a:rPr lang="es-ES" b="1" i="1" dirty="0"/>
              <a:t>2) Departamentos:</a:t>
            </a:r>
            <a:endParaRPr lang="es-VE" b="1" dirty="0"/>
          </a:p>
          <a:p>
            <a:pPr algn="just"/>
            <a:r>
              <a:rPr lang="es-ES" dirty="0"/>
              <a:t>Se entiende como departamento a los órganos que siguen inmediatamente a la Dirección. El equipo auditor describirá brevemente las funciones de cada uno de ellos.</a:t>
            </a:r>
            <a:endParaRPr lang="es-VE" b="1" dirty="0"/>
          </a:p>
          <a:p>
            <a:pPr algn="just"/>
            <a:r>
              <a:rPr lang="es-ES" b="1" i="1" dirty="0"/>
              <a:t>3) Relaciones Jerárquicas y funcionales entre órganos de la Organización:</a:t>
            </a:r>
            <a:endParaRPr lang="es-VE" b="1" dirty="0"/>
          </a:p>
          <a:p>
            <a:pPr algn="just"/>
            <a:r>
              <a:rPr lang="es-ES" dirty="0"/>
              <a:t>El equipo auditor verificará si se cumplen las relaciones funcionales y Jerárquicas previstas por el organigrama, o por el contrario detectará, por ejemplo, si algún empleado tiene dos jefes.</a:t>
            </a:r>
            <a:endParaRPr lang="es-VE" b="1" dirty="0"/>
          </a:p>
        </p:txBody>
      </p:sp>
    </p:spTree>
    <p:extLst>
      <p:ext uri="{BB962C8B-B14F-4D97-AF65-F5344CB8AC3E}">
        <p14:creationId xmlns:p14="http://schemas.microsoft.com/office/powerpoint/2010/main" val="1067469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dondear rectángulo de esquina diagonal"/>
          <p:cNvSpPr/>
          <p:nvPr/>
        </p:nvSpPr>
        <p:spPr>
          <a:xfrm>
            <a:off x="571244" y="1007799"/>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8" name="1 Título"/>
          <p:cNvSpPr txBox="1">
            <a:spLocks/>
          </p:cNvSpPr>
          <p:nvPr/>
        </p:nvSpPr>
        <p:spPr>
          <a:xfrm>
            <a:off x="4638358" y="443032"/>
            <a:ext cx="3384376" cy="54856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sz="3600" b="1" dirty="0"/>
              <a:t>Estudio Inicial</a:t>
            </a:r>
            <a:endParaRPr lang="es-VE" sz="3600" b="1" dirty="0"/>
          </a:p>
        </p:txBody>
      </p:sp>
      <p:sp>
        <p:nvSpPr>
          <p:cNvPr id="2" name="1 Rectángulo"/>
          <p:cNvSpPr/>
          <p:nvPr/>
        </p:nvSpPr>
        <p:spPr>
          <a:xfrm>
            <a:off x="561016" y="999014"/>
            <a:ext cx="2486566" cy="369332"/>
          </a:xfrm>
          <a:prstGeom prst="rect">
            <a:avLst/>
          </a:prstGeom>
        </p:spPr>
        <p:txBody>
          <a:bodyPr wrap="square">
            <a:spAutoFit/>
          </a:bodyPr>
          <a:lstStyle/>
          <a:p>
            <a:pPr algn="ctr"/>
            <a:r>
              <a:rPr lang="es-ES" b="1" dirty="0">
                <a:solidFill>
                  <a:schemeClr val="bg1"/>
                </a:solidFill>
              </a:rPr>
              <a:t>Organización</a:t>
            </a:r>
            <a:endParaRPr lang="es-VE" b="1" dirty="0">
              <a:solidFill>
                <a:schemeClr val="bg1"/>
              </a:solidFill>
            </a:endParaRPr>
          </a:p>
        </p:txBody>
      </p:sp>
      <p:sp>
        <p:nvSpPr>
          <p:cNvPr id="4" name="3 Rectángulo"/>
          <p:cNvSpPr/>
          <p:nvPr/>
        </p:nvSpPr>
        <p:spPr>
          <a:xfrm>
            <a:off x="323528" y="1656108"/>
            <a:ext cx="7848872" cy="4585871"/>
          </a:xfrm>
          <a:prstGeom prst="rect">
            <a:avLst/>
          </a:prstGeom>
        </p:spPr>
        <p:txBody>
          <a:bodyPr wrap="square">
            <a:spAutoFit/>
          </a:bodyPr>
          <a:lstStyle/>
          <a:p>
            <a:pPr lvl="0"/>
            <a:r>
              <a:rPr lang="es-ES" b="1" i="1" dirty="0"/>
              <a:t>4. Flujos de Información:</a:t>
            </a:r>
            <a:r>
              <a:rPr lang="es-ES" b="1" dirty="0"/>
              <a:t> </a:t>
            </a:r>
          </a:p>
          <a:p>
            <a:pPr lvl="0"/>
            <a:endParaRPr lang="es-VE" sz="1000" b="1" dirty="0"/>
          </a:p>
          <a:p>
            <a:pPr algn="just"/>
            <a:r>
              <a:rPr lang="es-ES" dirty="0"/>
              <a:t>     El equipo auditor comprobará que los nombres de los Puesto de los Puestos de Trabajo de la organización corresponden a las funciones reales distintas. </a:t>
            </a:r>
          </a:p>
          <a:p>
            <a:pPr algn="just"/>
            <a:endParaRPr lang="es-VE" sz="1000" b="1" dirty="0"/>
          </a:p>
          <a:p>
            <a:pPr algn="just"/>
            <a:r>
              <a:rPr lang="es-ES" dirty="0"/>
              <a:t>Es frecuente que bajo nombres diferentes se realicen funciones idénticas, lo cual indica la existencia de funciones operativas redundantes.</a:t>
            </a:r>
          </a:p>
          <a:p>
            <a:pPr algn="just"/>
            <a:endParaRPr lang="es-VE" sz="1000" b="1" dirty="0"/>
          </a:p>
          <a:p>
            <a:pPr algn="just"/>
            <a:r>
              <a:rPr lang="es-ES" dirty="0"/>
              <a:t>Esta situación pone de manifiesto deficiencias estructurales; los auditores darán a conocer tal circunstancia y expresarán el número de puestos de trabajo verdaderamente diferentes.</a:t>
            </a:r>
          </a:p>
          <a:p>
            <a:endParaRPr lang="es-VE" b="1" dirty="0"/>
          </a:p>
          <a:p>
            <a:pPr lvl="0"/>
            <a:r>
              <a:rPr lang="es-ES" b="1" i="1" dirty="0"/>
              <a:t>5. Número de Puestos de trabajo</a:t>
            </a:r>
          </a:p>
          <a:p>
            <a:pPr lvl="0"/>
            <a:endParaRPr lang="es-VE" sz="1000" b="1" dirty="0"/>
          </a:p>
          <a:p>
            <a:pPr lvl="0"/>
            <a:r>
              <a:rPr lang="es-ES" b="1" i="1" dirty="0"/>
              <a:t>6. Número de personas por Puesto de Trabajo</a:t>
            </a:r>
          </a:p>
          <a:p>
            <a:pPr algn="just"/>
            <a:r>
              <a:rPr lang="es-ES" b="1" i="1" dirty="0"/>
              <a:t>	</a:t>
            </a:r>
            <a:r>
              <a:rPr lang="es-ES" dirty="0"/>
              <a:t>Es un parámetro que los auditores informáticos deben considerar. La inadecuación del personal determina que el número de personas que realizan las mismas funciones rara vez coincida con la estructura oficial de la organización.</a:t>
            </a:r>
            <a:endParaRPr lang="es-VE" b="1" dirty="0"/>
          </a:p>
        </p:txBody>
      </p:sp>
    </p:spTree>
    <p:extLst>
      <p:ext uri="{BB962C8B-B14F-4D97-AF65-F5344CB8AC3E}">
        <p14:creationId xmlns:p14="http://schemas.microsoft.com/office/powerpoint/2010/main" val="1207909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dondear rectángulo de esquina diagonal"/>
          <p:cNvSpPr/>
          <p:nvPr/>
        </p:nvSpPr>
        <p:spPr>
          <a:xfrm>
            <a:off x="539552" y="1300118"/>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8" name="1 Título"/>
          <p:cNvSpPr txBox="1">
            <a:spLocks/>
          </p:cNvSpPr>
          <p:nvPr/>
        </p:nvSpPr>
        <p:spPr>
          <a:xfrm>
            <a:off x="4638358" y="443032"/>
            <a:ext cx="3384376" cy="54856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sz="3600" b="1" dirty="0"/>
              <a:t>Estudio Inicial</a:t>
            </a:r>
            <a:endParaRPr lang="es-VE" sz="3600" b="1" dirty="0"/>
          </a:p>
        </p:txBody>
      </p:sp>
      <p:sp>
        <p:nvSpPr>
          <p:cNvPr id="3" name="2 Rectángulo"/>
          <p:cNvSpPr/>
          <p:nvPr/>
        </p:nvSpPr>
        <p:spPr>
          <a:xfrm>
            <a:off x="755576" y="1896228"/>
            <a:ext cx="7532771" cy="1200329"/>
          </a:xfrm>
          <a:prstGeom prst="rect">
            <a:avLst/>
          </a:prstGeom>
        </p:spPr>
        <p:txBody>
          <a:bodyPr wrap="square">
            <a:spAutoFit/>
          </a:bodyPr>
          <a:lstStyle/>
          <a:p>
            <a:pPr algn="just"/>
            <a:r>
              <a:rPr lang="es-ES" dirty="0"/>
              <a:t>El equipo de auditoría informática debe poseer una adecuada referencia del entorno en el que va a desenvolverse.</a:t>
            </a:r>
            <a:endParaRPr lang="es-VE" b="1" dirty="0"/>
          </a:p>
          <a:p>
            <a:pPr algn="just"/>
            <a:r>
              <a:rPr lang="es-ES" dirty="0"/>
              <a:t>Este conocimiento previo se logra determinando, fundamentalmente, los siguientes extremos:</a:t>
            </a:r>
            <a:endParaRPr lang="es-VE" b="1" dirty="0"/>
          </a:p>
        </p:txBody>
      </p:sp>
      <p:sp>
        <p:nvSpPr>
          <p:cNvPr id="2" name="1 Rectángulo"/>
          <p:cNvSpPr/>
          <p:nvPr/>
        </p:nvSpPr>
        <p:spPr>
          <a:xfrm>
            <a:off x="571244" y="1300118"/>
            <a:ext cx="2486566" cy="369332"/>
          </a:xfrm>
          <a:prstGeom prst="rect">
            <a:avLst/>
          </a:prstGeom>
        </p:spPr>
        <p:txBody>
          <a:bodyPr wrap="square">
            <a:spAutoFit/>
          </a:bodyPr>
          <a:lstStyle/>
          <a:p>
            <a:pPr algn="ctr"/>
            <a:r>
              <a:rPr lang="es-ES" b="1" dirty="0">
                <a:solidFill>
                  <a:schemeClr val="bg1"/>
                </a:solidFill>
              </a:rPr>
              <a:t>Entorno Operacional</a:t>
            </a:r>
            <a:endParaRPr lang="es-VE" b="1" dirty="0">
              <a:solidFill>
                <a:schemeClr val="bg1"/>
              </a:solidFill>
            </a:endParaRPr>
          </a:p>
        </p:txBody>
      </p:sp>
      <p:sp>
        <p:nvSpPr>
          <p:cNvPr id="6" name="5 Rectángulo"/>
          <p:cNvSpPr/>
          <p:nvPr/>
        </p:nvSpPr>
        <p:spPr>
          <a:xfrm>
            <a:off x="1569633" y="3096557"/>
            <a:ext cx="5904656" cy="1477328"/>
          </a:xfrm>
          <a:prstGeom prst="rect">
            <a:avLst/>
          </a:prstGeom>
        </p:spPr>
        <p:txBody>
          <a:bodyPr wrap="square">
            <a:spAutoFit/>
          </a:bodyPr>
          <a:lstStyle/>
          <a:p>
            <a:pPr marL="360363" lvl="0" indent="-360363" algn="just"/>
            <a:r>
              <a:rPr lang="es-ES" b="1" dirty="0"/>
              <a:t>A) Se determinará la ubicación geográfica de los distintos Centros de Proceso de Datos en la empresa</a:t>
            </a:r>
            <a:r>
              <a:rPr lang="es-ES" dirty="0"/>
              <a:t>. A continuación, se verificará la existencia de responsables en cada unos de ellos, así como el uso de los mismos estándares de trabajo. </a:t>
            </a:r>
            <a:endParaRPr lang="es-VE" b="1" dirty="0"/>
          </a:p>
        </p:txBody>
      </p:sp>
      <p:sp>
        <p:nvSpPr>
          <p:cNvPr id="9" name="8 Rectángulo"/>
          <p:cNvSpPr/>
          <p:nvPr/>
        </p:nvSpPr>
        <p:spPr>
          <a:xfrm>
            <a:off x="1610484" y="4725144"/>
            <a:ext cx="5985852" cy="2031325"/>
          </a:xfrm>
          <a:prstGeom prst="rect">
            <a:avLst/>
          </a:prstGeom>
        </p:spPr>
        <p:txBody>
          <a:bodyPr wrap="square">
            <a:spAutoFit/>
          </a:bodyPr>
          <a:lstStyle/>
          <a:p>
            <a:pPr marL="263525" indent="-263525" algn="just"/>
            <a:r>
              <a:rPr lang="es-ES" b="1" dirty="0"/>
              <a:t>B) Arquitectura y configuración de Hardware y Software: </a:t>
            </a:r>
            <a:r>
              <a:rPr lang="es-ES" dirty="0"/>
              <a:t>Cuando existen varios equipos, es fundamental la configuración elegida para cada uno de ellos, ya que los mismos deben constituir un sistema compatible e intercomunicado. La configuración de los sistemas esta muy ligada a las políticas de seguridad lógica de las compañías.</a:t>
            </a:r>
            <a:endParaRPr lang="es-VE" b="1" dirty="0"/>
          </a:p>
        </p:txBody>
      </p:sp>
    </p:spTree>
    <p:extLst>
      <p:ext uri="{BB962C8B-B14F-4D97-AF65-F5344CB8AC3E}">
        <p14:creationId xmlns:p14="http://schemas.microsoft.com/office/powerpoint/2010/main" val="1630994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dondear rectángulo de esquina diagonal"/>
          <p:cNvSpPr/>
          <p:nvPr/>
        </p:nvSpPr>
        <p:spPr>
          <a:xfrm>
            <a:off x="539552" y="1136210"/>
            <a:ext cx="2574540" cy="36933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8" name="1 Título"/>
          <p:cNvSpPr txBox="1">
            <a:spLocks/>
          </p:cNvSpPr>
          <p:nvPr/>
        </p:nvSpPr>
        <p:spPr>
          <a:xfrm>
            <a:off x="4638358" y="443032"/>
            <a:ext cx="3384376" cy="54856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s-ES" sz="3600" b="1" dirty="0"/>
              <a:t>Estudio Inicial</a:t>
            </a:r>
            <a:endParaRPr lang="es-VE" sz="3600" b="1" dirty="0"/>
          </a:p>
        </p:txBody>
      </p:sp>
      <p:sp>
        <p:nvSpPr>
          <p:cNvPr id="3" name="2 Rectángulo"/>
          <p:cNvSpPr/>
          <p:nvPr/>
        </p:nvSpPr>
        <p:spPr>
          <a:xfrm>
            <a:off x="323528" y="1717639"/>
            <a:ext cx="7699206" cy="2308324"/>
          </a:xfrm>
          <a:prstGeom prst="rect">
            <a:avLst/>
          </a:prstGeom>
        </p:spPr>
        <p:txBody>
          <a:bodyPr wrap="square">
            <a:spAutoFit/>
          </a:bodyPr>
          <a:lstStyle/>
          <a:p>
            <a:pPr lvl="0"/>
            <a:r>
              <a:rPr lang="es-ES" b="1" dirty="0"/>
              <a:t>C) Situación geográfica de los Sistemas: </a:t>
            </a:r>
            <a:endParaRPr lang="es-VE" b="1" dirty="0"/>
          </a:p>
          <a:p>
            <a:pPr marL="263525" indent="-263525" algn="just"/>
            <a:r>
              <a:rPr lang="es-ES" dirty="0"/>
              <a:t>           El auditor recabará información escrita, en donde figuren todos los elementos físicos y lógicos de la instalación. En cuanto a Hardware figurarán las CPUs, unidades de control local y remotas, periféricos de todo tipo, etc.</a:t>
            </a:r>
            <a:endParaRPr lang="es-VE" b="1" dirty="0"/>
          </a:p>
          <a:p>
            <a:pPr marL="263525" indent="-263525" algn="just"/>
            <a:r>
              <a:rPr lang="es-ES" dirty="0"/>
              <a:t>     El inventario de software debe contener todos los productos lógicos del Sistema, desde el software básico hasta los programas de utilidad adquiridos o desarrollados internamente. Suele ser habitual clasificarlos en facturables y no facturables.</a:t>
            </a:r>
            <a:endParaRPr lang="es-VE" b="1" dirty="0"/>
          </a:p>
        </p:txBody>
      </p:sp>
      <p:sp>
        <p:nvSpPr>
          <p:cNvPr id="2" name="1 Rectángulo"/>
          <p:cNvSpPr/>
          <p:nvPr/>
        </p:nvSpPr>
        <p:spPr>
          <a:xfrm>
            <a:off x="583539" y="1136211"/>
            <a:ext cx="2486566" cy="369332"/>
          </a:xfrm>
          <a:prstGeom prst="rect">
            <a:avLst/>
          </a:prstGeom>
        </p:spPr>
        <p:txBody>
          <a:bodyPr wrap="square">
            <a:spAutoFit/>
          </a:bodyPr>
          <a:lstStyle/>
          <a:p>
            <a:pPr algn="ctr"/>
            <a:r>
              <a:rPr lang="es-ES" b="1" dirty="0">
                <a:solidFill>
                  <a:schemeClr val="bg1"/>
                </a:solidFill>
              </a:rPr>
              <a:t>Entorno Operacional</a:t>
            </a:r>
            <a:endParaRPr lang="es-VE" b="1" dirty="0">
              <a:solidFill>
                <a:schemeClr val="bg1"/>
              </a:solidFill>
            </a:endParaRPr>
          </a:p>
        </p:txBody>
      </p:sp>
      <p:sp>
        <p:nvSpPr>
          <p:cNvPr id="6" name="5 Rectángulo"/>
          <p:cNvSpPr/>
          <p:nvPr/>
        </p:nvSpPr>
        <p:spPr>
          <a:xfrm>
            <a:off x="1686030" y="4437112"/>
            <a:ext cx="6270346" cy="1754326"/>
          </a:xfrm>
          <a:prstGeom prst="rect">
            <a:avLst/>
          </a:prstGeom>
        </p:spPr>
        <p:txBody>
          <a:bodyPr wrap="square">
            <a:spAutoFit/>
          </a:bodyPr>
          <a:lstStyle/>
          <a:p>
            <a:r>
              <a:rPr lang="es-ES" b="1" dirty="0"/>
              <a:t>D) Comunicación y Redes de Comunicación:</a:t>
            </a:r>
            <a:endParaRPr lang="es-VE" b="1" dirty="0"/>
          </a:p>
          <a:p>
            <a:pPr marL="263525" indent="-263525" algn="just"/>
            <a:r>
              <a:rPr lang="es-ES" dirty="0"/>
              <a:t>             En el estudio inicial los auditores dispondrán del número, situación y características principales de las líneas, así como de los accesos a la red pública de comunicaciones.</a:t>
            </a:r>
            <a:endParaRPr lang="es-VE" b="1" dirty="0"/>
          </a:p>
          <a:p>
            <a:pPr marL="263525" indent="-263525" algn="just"/>
            <a:r>
              <a:rPr lang="es-ES" dirty="0"/>
              <a:t>     Igualmente, poseerán información de las Redes Locales de la Empresa.</a:t>
            </a:r>
            <a:endParaRPr lang="es-VE" b="1" dirty="0"/>
          </a:p>
        </p:txBody>
      </p:sp>
    </p:spTree>
    <p:extLst>
      <p:ext uri="{BB962C8B-B14F-4D97-AF65-F5344CB8AC3E}">
        <p14:creationId xmlns:p14="http://schemas.microsoft.com/office/powerpoint/2010/main" val="42063292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yacencia">
  <a:themeElements>
    <a:clrScheme name="Adyacencia">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yacencia">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471</TotalTime>
  <Words>2335</Words>
  <Application>Microsoft Office PowerPoint</Application>
  <PresentationFormat>Presentación en pantalla (4:3)</PresentationFormat>
  <Paragraphs>137</Paragraphs>
  <Slides>23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Cambria</vt:lpstr>
      <vt:lpstr>Courier New</vt:lpstr>
      <vt:lpstr>Adyacencia</vt:lpstr>
      <vt:lpstr>Herramientas y Técnicas para la Auditoría Informática: </vt:lpstr>
      <vt:lpstr>Técnicas para la Auditoría Informática</vt:lpstr>
      <vt:lpstr>Cuestionario</vt:lpstr>
      <vt:lpstr>Entrevistas</vt:lpstr>
      <vt:lpstr>Entrevistas</vt:lpstr>
      <vt:lpstr>Entrevistas</vt:lpstr>
      <vt:lpstr>Checklist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Picado Solano Henry</cp:lastModifiedBy>
  <cp:revision>34</cp:revision>
  <dcterms:created xsi:type="dcterms:W3CDTF">2011-05-04T02:42:22Z</dcterms:created>
  <dcterms:modified xsi:type="dcterms:W3CDTF">2023-07-03T23:21:10Z</dcterms:modified>
</cp:coreProperties>
</file>